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9" r:id="rId7"/>
    <p:sldId id="261" r:id="rId8"/>
    <p:sldId id="293" r:id="rId9"/>
    <p:sldId id="292" r:id="rId10"/>
    <p:sldId id="264" r:id="rId11"/>
    <p:sldId id="265" r:id="rId12"/>
    <p:sldId id="296" r:id="rId13"/>
    <p:sldId id="297" r:id="rId14"/>
    <p:sldId id="266" r:id="rId15"/>
    <p:sldId id="298" r:id="rId16"/>
    <p:sldId id="268" r:id="rId17"/>
    <p:sldId id="269" r:id="rId18"/>
    <p:sldId id="301" r:id="rId19"/>
    <p:sldId id="302" r:id="rId20"/>
    <p:sldId id="270" r:id="rId21"/>
    <p:sldId id="305" r:id="rId22"/>
    <p:sldId id="306" r:id="rId23"/>
    <p:sldId id="271" r:id="rId24"/>
    <p:sldId id="308" r:id="rId25"/>
    <p:sldId id="309" r:id="rId26"/>
    <p:sldId id="315" r:id="rId27"/>
    <p:sldId id="311" r:id="rId28"/>
    <p:sldId id="274" r:id="rId29"/>
    <p:sldId id="275" r:id="rId30"/>
    <p:sldId id="318" r:id="rId31"/>
    <p:sldId id="317" r:id="rId32"/>
    <p:sldId id="276" r:id="rId33"/>
    <p:sldId id="312" r:id="rId34"/>
    <p:sldId id="278" r:id="rId35"/>
    <p:sldId id="279" r:id="rId36"/>
    <p:sldId id="320" r:id="rId37"/>
    <p:sldId id="310" r:id="rId38"/>
    <p:sldId id="281" r:id="rId39"/>
    <p:sldId id="282" r:id="rId40"/>
    <p:sldId id="283" r:id="rId41"/>
    <p:sldId id="313" r:id="rId42"/>
    <p:sldId id="285" r:id="rId43"/>
    <p:sldId id="286" r:id="rId44"/>
    <p:sldId id="289" r:id="rId45"/>
    <p:sldId id="290" r:id="rId46"/>
    <p:sldId id="29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77629" autoAdjust="0"/>
  </p:normalViewPr>
  <p:slideViewPr>
    <p:cSldViewPr snapToGrid="0">
      <p:cViewPr varScale="1">
        <p:scale>
          <a:sx n="59" d="100"/>
          <a:sy n="59" d="100"/>
        </p:scale>
        <p:origin x="67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D9A5C-B962-4572-8BBA-E7A2A9E6A5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老师、同学们，大家好！我们是第 13 组，今天为大家带来的是 VAST Challenge 2022 MC1 项目数据分析汇报。首先介绍团队分工：讲稿由张雅晨撰写，</a:t>
            </a:r>
            <a:r>
              <a:rPr lang="en-US" altLang="zh-CN"/>
              <a:t>Solution</a:t>
            </a:r>
            <a:r>
              <a:rPr lang="zh-CN" altLang="zh-CN"/>
              <a:t>与</a:t>
            </a:r>
            <a:r>
              <a:rPr lang="zh-CN" altLang="zh-CN" dirty="0"/>
              <a:t>代码实现由周晨旭、王甬拓完成，PPT 制作由杨哲瑞、孙瑞笙负责。接下来正式开始本次汇报。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本次汇报一共分为七大板块，分别是数据背景、四大分析问题、总结与建议以及用到的技术方法。接下来我就按照目录顺序，依次展开讲解。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首先进入第一部分，数据背景介绍。本次分析所使用的是 EngageTown 社区数据集，下面我从数据基础、存在局限、样本代表性以及数据处理难点这几个方面展开说明。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先看数据基础，本次分析的数据时间跨度为 15 个月，从 2022 年 3 月到 2023 年 5 月，总计 1.14 亿条活动日志，覆盖 1011 名居民的全维度行为数据，核心包含人口属性、金融交易、场所签到等结构化信息。</a:t>
            </a:r>
            <a:endParaRPr lang="zh-CN" altLang="zh-CN" dirty="0"/>
          </a:p>
          <a:p>
            <a:r>
              <a:rPr lang="zh-CN" altLang="zh-CN" dirty="0"/>
              <a:t>其次是数据局限，原始数据缺少性别、职业这类关键字段，部分经济指标只能通过建筑与场所匹配的方式间接推算，一定程度上降低了行业分类的精准度。</a:t>
            </a:r>
            <a:endParaRPr lang="zh-CN" altLang="zh-CN" dirty="0"/>
          </a:p>
          <a:p>
            <a:r>
              <a:rPr lang="zh-CN" altLang="zh-CN" dirty="0"/>
              <a:t>在样本方面，我们选取 1011 名志愿者作为分析样本，虽然存在小幅选择偏差，但样本在年龄、教育等维度分布多样，具备统计分析价值。</a:t>
            </a:r>
            <a:endParaRPr lang="zh-CN" altLang="zh-CN" dirty="0"/>
          </a:p>
          <a:p>
            <a:r>
              <a:rPr lang="zh-CN" altLang="zh-CN" dirty="0"/>
              <a:t>最后是处理挑战，由于整体数据体量极大，我们使用 fastparquet 工具处理海量日志，并用 Streamlit 搭建了交互式报告界面，保障整个分析过程可复现。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基于这套数据集，我们设定了四个核心研究问题。分别是人口特征刻画、社交活动分析、商业经济解析，以及整合全部内容的综合城市画像。下面我们逐个进行分析解读。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来看第一个问题，居民人口特征分析。我们通过多张统计图表，挖掘社区人口的整体特点与潜在风险。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先为大家总结人口板块的核心结论。第一，社区以劳动年龄人口为主，居民平均年龄 39.1 岁，30-44 岁人群占比最高，老年人口偏少，整体经济活跃度很高。第二，居民教育水平和经济状况呈明显正相关，学历越高，账户可用余额越高，能看出教育对收入影响显著。第三，当地户均家庭规模仅 2.0 人，只有 30% 的家庭拥有子女；同时社区分为 10 个兴趣组，各组人数分布均匀，整体社会结构多元且均衡。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这张是居民年龄分布直方图。从图中可以清晰看到，人口主要集中在 30 至 44 岁区间，年龄均值和中位数都接近 39 岁，整体呈右偏态分布，再次印证这是一个典型的劳动导向型社区，老年人口占比很低。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这张图表展示了教育水平和账户可用余额的对应关系。不难发现，学历越高，居民平均余额就越高，其中研究生学历群体的经济水平遥遥领先，直观体现出教育和个人经济状况紧密相关。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接下来是 10 个居民兴趣组的人数分布。各组人数差距很小、分布十分均匀，每组大约 101 人。这说明居民兴趣爱好多样，社区社交基础均衡，也为后续稳定的社交网络提供了支撑。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结合人口数据，我们做了深层解读。首先当地形成了正向经济循环：大量劳动人口支撑小微企业，小微企业的就业岗位又持续吸引青壮年流入。</a:t>
            </a:r>
            <a:endParaRPr lang="zh-CN" altLang="zh-CN" dirty="0"/>
          </a:p>
          <a:p>
            <a:r>
              <a:rPr lang="zh-CN" altLang="zh-CN" dirty="0"/>
              <a:t>但同时社区也存在多重隐患：一是老年人口占比过低，缺少代际传承机制，未来极易出现劳动力断层；二是小型家庭成为主流，社区长期发展只能依靠外来人口迁入，而非自然人口增长；三是教育和财富高度绑定，低学历群体容易陷入低技能、低收入的困境。</a:t>
            </a:r>
            <a:endParaRPr lang="zh-CN" altLang="zh-CN" dirty="0"/>
          </a:p>
          <a:p>
            <a:r>
              <a:rPr lang="zh-CN" altLang="zh-CN" dirty="0"/>
              <a:t>针对这些问题，我们也给城市规划提出建议：提前布局养老、托幼设施，同时开展职业技能培训，弱化学历带来的收入差距。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了解完人口特征，我们进入第二个板块，居民社交活动分析。我们构建社交网络，结合图表挖掘居民的社交结构、行为规律与时间特征。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我们一共总结出十项典型社交行为模式。首先使用 Louvain 算法划分出 28 个社交集群，模块度达到 0.5194，社群和居民兴趣、工作、邻里关系高度匹配，社交边界清晰。</a:t>
            </a:r>
            <a:endParaRPr lang="zh-CN" altLang="zh-CN" dirty="0"/>
          </a:p>
          <a:p>
            <a:r>
              <a:rPr lang="zh-CN" altLang="zh-CN" dirty="0"/>
              <a:t>整体社交网络的平均聚类系数高于网络密度，“朋友的朋友也是朋友” 的三元闭包现象十分普遍。另外居民社交圈规模相近，没有出现少数人垄断社交资源的 “超级连接者”，社交机会整体均等。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这张是社交网络加权度对数分布图，整体近似正态分布。这代表社区内每个人的社交连接数量都比较均衡，不存在连接极端集中的情况，和典型的无标度网络有明显区别。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这张图统计了 28 个社交社区的规模，每个社群人数在 10 人到 80 人之间。这种模块化结构，一方面能增强社群内部凝聚力，另一方面也会阻碍不同社群之间的信息互通。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这是聚类系数分布图，整体数值偏高。这说明居民之间社交关系重叠度高，局部小圈子连接紧密，也是现实线下社交网络的典型特征。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我们再来看居民的活动场所偏好。公寓、工作场所、餐厅是三大核心活动空间，其中餐厅、酒吧这类餐饮场所的签到占比合计 38.2%，足以证明餐饮场所是社区最重要的社交枢纽。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这张图统计了一天 24 小时的活动量变化，整体呈现 U 型曲线。活动量在 17 点到 19 点达到全天峰值，完全贴合劳动人群上下班、休闲娱乐的作息规律，工作与休闲的时间切换特征非常明显。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我们将工作日和周末的活动数据做对比，可以看到周末活动高峰整体延后 2 小时。工作类活动占比从 31.8% 骤降到 4%，休闲活动占比从 3.1% 提升至 8.9%，工作日专注工作、周末偏向休闲的二元作息特点十分突出。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这张图展示了年龄和社交活跃度的关系，整体呈倒 U 型。25 至 45 岁的青壮年是社交最活跃的群体，随着年龄继续增长，居民社交连接度持续下降，大概率是老年群体社交圈收缩，或是存在数字使用上的鸿沟。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结合教育数据我们发现一个特点：高学历人群虽然经济条件更优，但社交活跃度并没有明显优势，说明经济地位和社交活跃度并不完全挂钩。同时结合年龄数据也能相互印证，社区老年人口占比低、老年群体社交活跃度偏弱，两个特征形成呼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同时结合年龄数据也能相互印证，社区老年人口占比低、老年群体社交活跃度偏弱，两个特征形成呼应。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综合所有社交数据，我们总结出三点深层问题。第一，整个社交生态是高度自组织的，并非人群随机聚集，同时出现了 “平等中的隔离”：大家社交规模均等，但模块化社群割裂了跨群体交流。</a:t>
            </a:r>
            <a:endParaRPr lang="zh-CN" altLang="zh-CN"/>
          </a:p>
          <a:p>
            <a:r>
              <a:rPr lang="zh-CN" altLang="zh-CN"/>
              <a:t>第二，结合消费数据能发现，居民把社交餐饮当作基础生活需求，形成了独特的社交资本模式。</a:t>
            </a:r>
            <a:endParaRPr lang="zh-CN" altLang="zh-CN"/>
          </a:p>
          <a:p>
            <a:r>
              <a:rPr lang="zh-CN" altLang="zh-CN"/>
              <a:t>第三也是最大风险：网络信息传播高度依赖少数桥接型核心人员，一旦关键节点出现问题，整个社交网络都会受影响，网络韧性不足。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接下来进入第三个板块，社区商业经济分析。我们从经济结构、财务流动、产业分布三个维度，解读当地的商业现状与潜在风险。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首先梳理经济板块的核心结论。第一，当地经济由 253 家小微企业构成，单店雇员 2-9 人，形成分布式服务生态，和社区小型家庭结构高度匹配。</a:t>
            </a:r>
            <a:endParaRPr lang="zh-CN" altLang="zh-CN" dirty="0"/>
          </a:p>
          <a:p>
            <a:r>
              <a:rPr lang="zh-CN" altLang="zh-CN" dirty="0"/>
              <a:t>第二，社区年工资总额达 5563 万美元，支出集中在住房、休闲、食品三大类，其中休闲支出和食品支出几乎持平，是非常特殊的消费特征。</a:t>
            </a:r>
            <a:endParaRPr lang="zh-CN" altLang="zh-CN" dirty="0"/>
          </a:p>
          <a:p>
            <a:r>
              <a:rPr lang="zh-CN" altLang="zh-CN" dirty="0"/>
              <a:t>第三，产业划分十分模糊，仅 11% 的商户能归为餐饮、酒店行业，剩余 89% 业态无法区分，整体经济高度依赖本地日常消费。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这张是企业雇员规模分布图，所有商户都是小微企业，平均每家 5.2 名员工。这个分布和前面统计的家庭规模形成镜像，能直观看出社区经济单元和家庭单元结构高度相似。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这张饼图展示了居民消费结构，住房占比最高，其次是休闲和食品。休闲支出占比偏高，结合之前餐饮场所高签到率就能理解，社交休闲已经成为居民生活的刚需。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在行业分类上，253 家雇主中只有 28 家可以识别具体行业，其中 17 家为餐饮服务，其余 225 家都无法界定业态，占比高达 89%，充分体现出当地产业结构模糊、行业细分不足的问题。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针对商业经济数据，我们分析了现状与风险。第一，居民休闲支出和工资收入周期同步波动，经济极易受消费信心影响，稳定性较差。</a:t>
            </a:r>
            <a:endParaRPr lang="zh-CN" altLang="zh-CN"/>
          </a:p>
          <a:p>
            <a:r>
              <a:rPr lang="zh-CN" altLang="zh-CN"/>
              <a:t>第二，社区共有 512 栋商业建筑，但仅 253 家商户，商业建筑空置率 49%，存在明显的空间资源错配。</a:t>
            </a:r>
            <a:endParaRPr lang="zh-CN" altLang="zh-CN"/>
          </a:p>
          <a:p>
            <a:r>
              <a:rPr lang="zh-CN" altLang="zh-CN"/>
              <a:t>第三，小微企业分散的特点带来了一定抗风险能力，但产业深度不足，创新能力受限；同时薪资存在明显上限，容易造成高技能人才外流，社区长期陷入低水平发展。我们建议培育锚点企业、配套职业培训，打破发展瓶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现在来到第四个板块，综合</a:t>
            </a:r>
            <a:r>
              <a:rPr lang="zh-CN" altLang="en-US" dirty="0"/>
              <a:t>概览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我们整合人口、社交、经济、空间四大维度数据，对整个社区做整体梳理。首先</a:t>
            </a:r>
            <a:r>
              <a:rPr lang="zh-CN" altLang="zh-CN" dirty="0"/>
              <a:t>做整体信息汇总。人口层面，社区以青壮年劳动人口为主，小型家庭模式普及；社交层面，形成 28 个独立社群，活动时间区分明显；经济层面，海量小微企业作为主体，休闲消费占比突出；空间层面，商业建筑与住宅数量基本平衡，餐饮、酒吧聚集形成社交热点。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大家看这张场所分布图，图中红色代表酒吧，绿色代表餐厅，两类场所集中在社区中心，形成三大社交聚集区，和我们之前划分的社交社群空间位置高度吻合。同时超半数商业建筑集中在中心 1 公里范围内，居民工作和居住距离很近，职住平衡效果很好。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社区内 4 所学校均匀分布在居住区外围，服务范围覆盖全部住宅，完全符合 15 分钟生活圈的现代规划理念。另外我们还发现，餐厅、酒吧这类社交热点，和社交网络中桥接节点居民的居住地高度重合，再次印证餐饮场所是整个社区的社交核心。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接下来是第六部分，总结与对策建议。结合前面所有数据分析，我们提炼社区核心问题，并给出对应的优化方案。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综合全部分析结果，我们将 EngageTown 社区总结为小型均衡中的隐性脆弱。社区表面结构均衡稳定，但背后隐藏着多重结构性风险。</a:t>
            </a:r>
            <a:endParaRPr lang="zh-C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dirty="0"/>
              <a:t>首先是三大核心风险。第一是人口结构风险，劳动人口占比过高，老年人口占比极低，缺少代际传承，社区发展过度依赖外来人口迁入。</a:t>
            </a:r>
            <a:endParaRPr lang="zh-CN" altLang="zh-CN" dirty="0"/>
          </a:p>
          <a:p>
            <a:r>
              <a:rPr lang="zh-CN" altLang="zh-CN" dirty="0"/>
              <a:t>第二是经济单一性隐患，商户数量虽多，但业态同质化严重，全部围绕本地日常消费运转，产业结构单一，抗风险能力弱。</a:t>
            </a:r>
            <a:endParaRPr lang="zh-CN" altLang="zh-CN" dirty="0"/>
          </a:p>
          <a:p>
            <a:r>
              <a:rPr lang="zh-CN" altLang="zh-CN" dirty="0"/>
              <a:t>第三是社交网络风险，社群分割明显，信息流动完全依靠少数核心桥接人员，关键节点一旦缺失，整个社交体系都会受到冲击。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除了三大核心风险，我们还梳理出三个延伸问题。第一是劳动力断层，核心劳动群体占比高，但家庭生育率偏低，人口自然增长近乎停滞，未来一定会出现劳动力缺口。</a:t>
            </a:r>
            <a:endParaRPr lang="zh-CN" altLang="zh-CN" dirty="0"/>
          </a:p>
          <a:p>
            <a:r>
              <a:rPr lang="zh-CN" altLang="zh-CN" dirty="0"/>
              <a:t>第二是低技能陷阱，学历和收入刚性绑定，很容易固化社会阶层，阻碍人群向上流动。</a:t>
            </a:r>
            <a:endParaRPr lang="zh-CN" altLang="zh-CN" dirty="0"/>
          </a:p>
          <a:p>
            <a:r>
              <a:rPr lang="zh-CN" altLang="zh-CN" dirty="0"/>
              <a:t>第三是经济天花板，整体薪资区间狭窄，职业上升通道不足，很难留住高技能人才。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针对以上所有问题，我们从三个方向给出落地建议。第一是空间规划，拿出 20% 闲置商业建筑打造创新孵化区，用税收优惠吸引技术型小微企业，培育特色产业集群。</a:t>
            </a:r>
            <a:endParaRPr lang="zh-CN" altLang="zh-CN" dirty="0"/>
          </a:p>
          <a:p>
            <a:r>
              <a:rPr lang="zh-CN" altLang="zh-CN" dirty="0"/>
              <a:t>第二是盘活社会资本，依托酒吧、餐厅等现有社交枢纽，选拔社群核心居民担任社区联络官，打通不同社群之间的沟通壁垒。</a:t>
            </a:r>
            <a:endParaRPr lang="zh-CN" altLang="zh-CN" dirty="0"/>
          </a:p>
          <a:p>
            <a:r>
              <a:rPr lang="zh-CN" altLang="zh-CN" dirty="0"/>
              <a:t>第三是推进社区韧性建设，逐年增加养老配套设施，同时推出代际互助政策，缓解人口结构失衡的问题。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最后一部分，为大家介绍本次项目用到的技术方法与工具。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在可视化设计上，我们采用了 Munzner 四层嵌套模型。从定义业务问题、拆解分析任务，再到视觉编码、结果解读，逐层落地，保证数据分析和图表展示逻辑统一。</a:t>
            </a:r>
            <a:endParaRPr lang="zh-CN" altLang="zh-CN" dirty="0"/>
          </a:p>
          <a:p>
            <a:r>
              <a:rPr lang="zh-CN" altLang="zh-CN" dirty="0"/>
              <a:t>同时该模型支持反向验证，我们在图表中标注均值、中位数等参考线，确保可视化内容可以真实、准确地反映数据特征。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本次分析全程基于 Python 搭建完整流水线。用 Pandas 完成数据清洗，NetworkX 处理社交网络，Plotly 制作交互式可视化图表。</a:t>
            </a:r>
            <a:endParaRPr lang="zh-CN" altLang="zh-CN" dirty="0"/>
          </a:p>
          <a:p>
            <a:r>
              <a:rPr lang="zh-CN" altLang="zh-CN" dirty="0"/>
              <a:t>我们还借助 Streamlit 搭建了交互式仪表盘，支持多维度动态探索数据。面对亿级海量数据，我们使用 fastparquet 加速数据读取，搭配 Kaleido 完成图表静态导出，整套工具高效完成了全部分析工作。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这里再细化各项技术的具体用途。数据处理依靠 Python、fastparquet 提升运算效率；可视化依靠 Plotly、Streamlit 实现动态交互效果；算法层面使用 NetworkX 计算模块度、聚类系数，验证社交网络的三元闭包等特征，整套技术覆盖全分析流程。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最后简单介绍项目过程管理。整个团队累计投入 120 个工时，其中数据清洗 30 小时、分析建模 45 小时、可视化制作 35 小时、报告撰写 10 小时。</a:t>
            </a:r>
            <a:endParaRPr lang="zh-CN" altLang="zh-CN" dirty="0"/>
          </a:p>
          <a:p>
            <a:r>
              <a:rPr lang="zh-CN" altLang="zh-CN" dirty="0"/>
              <a:t>协作上我们使用 Git 做版本控制，每日同步进度，用 Jupyter Notebook 共享分析成果，同时交叉核对所有结论，保证数据与分析逻辑一致。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以上就是我们第 13 组本次项目的全部分析与汇报内容。感谢老师、同学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的聆听，大家如果有疑问，欢迎随时提问！</a:t>
            </a:r>
            <a:endParaRPr lang="zh-C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56B2C-7DDC-45FB-AE1B-FA3B8E55E0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8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19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themeOverride" Target="../theme/themeOverride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7" Type="http://schemas.openxmlformats.org/officeDocument/2006/relationships/notesSlide" Target="../notesSlides/notesSlide31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13.xml"/><Relationship Id="rId24" Type="http://schemas.openxmlformats.org/officeDocument/2006/relationships/tags" Target="../tags/tag112.xml"/><Relationship Id="rId23" Type="http://schemas.openxmlformats.org/officeDocument/2006/relationships/tags" Target="../tags/tag111.xml"/><Relationship Id="rId22" Type="http://schemas.openxmlformats.org/officeDocument/2006/relationships/tags" Target="../tags/tag110.xml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0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image" Target="../media/image25.png"/><Relationship Id="rId2" Type="http://schemas.openxmlformats.org/officeDocument/2006/relationships/tags" Target="../tags/tag114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image" Target="../media/image25.png"/><Relationship Id="rId2" Type="http://schemas.openxmlformats.org/officeDocument/2006/relationships/tags" Target="../tags/tag119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jpe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4" Type="http://schemas.openxmlformats.org/officeDocument/2006/relationships/notesSlide" Target="../notesSlides/notesSlide3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2" name="TextBox 2"/>
          <p:cNvSpPr txBox="1"/>
          <p:nvPr/>
        </p:nvSpPr>
        <p:spPr>
          <a:xfrm>
            <a:off x="745490" y="1630689"/>
            <a:ext cx="9246870" cy="196912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 fontScale="97500"/>
          </a:bodyPr>
          <a:lstStyle/>
          <a:p>
            <a:pPr algn="ctr">
              <a:lnSpc>
                <a:spcPct val="100000"/>
              </a:lnSpc>
            </a:pPr>
            <a:r>
              <a:rPr lang="en-US" sz="6000" b="1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  <a:sym typeface="+mn-ea"/>
              </a:rPr>
              <a:t>VAST Challenge</a:t>
            </a:r>
            <a:endParaRPr kumimoji="0" lang="en-US" sz="6000" b="1" i="0" u="none" strike="noStrike" kern="1200" cap="none" spc="0" normalizeH="0" baseline="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6000" b="1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  <a:sym typeface="+mn-ea"/>
              </a:rPr>
              <a:t>                 --2022 MC1</a:t>
            </a:r>
            <a:endParaRPr lang="en-US" sz="6000" b="1">
              <a:solidFill>
                <a:srgbClr val="37383A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  <a:p>
            <a:pPr algn="ctr">
              <a:lnSpc>
                <a:spcPct val="100000"/>
              </a:lnSpc>
            </a:pPr>
            <a:endParaRPr lang="en-US" sz="6000" b="1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  <p:sp>
        <p:nvSpPr>
          <p:cNvPr id="100008" name="TextBox 3"/>
          <p:cNvSpPr txBox="1"/>
          <p:nvPr/>
        </p:nvSpPr>
        <p:spPr>
          <a:xfrm>
            <a:off x="3082925" y="4272280"/>
            <a:ext cx="3855085" cy="36893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PPT</a:t>
            </a:r>
            <a:r>
              <a:rPr lang="zh-CN" alt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制作</a:t>
            </a:r>
            <a:r>
              <a:rPr 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zh-CN" alt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杨哲瑞、孙瑞笙</a:t>
            </a:r>
            <a:endParaRPr lang="zh-CN" altLang="en-US" sz="1950">
              <a:solidFill>
                <a:srgbClr val="833814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4" name="宇神PPT-3-1"/>
          <p:cNvSpPr/>
          <p:nvPr/>
        </p:nvSpPr>
        <p:spPr>
          <a:xfrm flipH="1">
            <a:off x="1112091" y="3017199"/>
            <a:ext cx="2769235" cy="412115"/>
          </a:xfrm>
          <a:prstGeom prst="roundRect">
            <a:avLst>
              <a:gd name="adj" fmla="val 25547"/>
            </a:avLst>
          </a:prstGeom>
          <a:gradFill flip="none" rotWithShape="1">
            <a:gsLst>
              <a:gs pos="0">
                <a:schemeClr val="accent2">
                  <a:lumMod val="97656"/>
                </a:schemeClr>
              </a:gs>
              <a:gs pos="100000">
                <a:schemeClr val="accent2">
                  <a:lumMod val="67969"/>
                </a:schemeClr>
              </a:gs>
            </a:gsLst>
            <a:lin ang="5400000" scaled="1"/>
            <a:tileRect/>
          </a:gradFill>
          <a:ln w="9525" cap="flat" cmpd="sng" algn="ctr">
            <a:solidFill>
              <a:schemeClr val="accent2">
                <a:lumMod val="1000"/>
                <a:lumOff val="99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25400" dir="2700000" algn="tl" rotWithShape="0">
              <a:srgbClr val="FFAB6F"/>
            </a:outerShdw>
          </a:effectLst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1000"/>
                    <a:lumOff val="99000"/>
                  </a:schemeClr>
                </a:solidFill>
                <a:effectLst>
                  <a:outerShdw blurRad="38100" dist="38100" dir="2700000" algn="tl">
                    <a:schemeClr val="accent2">
                      <a:lumMod val="0"/>
                      <a:alpha val="43137"/>
                    </a:schemeClr>
                  </a:outerShdw>
                </a:effectLst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第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1000"/>
                    <a:lumOff val="99000"/>
                  </a:schemeClr>
                </a:solidFill>
                <a:effectLst>
                  <a:outerShdw blurRad="38100" dist="38100" dir="2700000" algn="tl">
                    <a:schemeClr val="accent2">
                      <a:lumMod val="0"/>
                      <a:alpha val="43137"/>
                    </a:schemeClr>
                  </a:outerShdw>
                </a:effectLst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1000"/>
                    <a:lumOff val="99000"/>
                  </a:schemeClr>
                </a:solidFill>
                <a:effectLst>
                  <a:outerShdw blurRad="38100" dist="38100" dir="2700000" algn="tl">
                    <a:schemeClr val="accent2">
                      <a:lumMod val="0"/>
                      <a:alpha val="43137"/>
                    </a:schemeClr>
                  </a:outerShdw>
                </a:effectLst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组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1000"/>
                  <a:lumOff val="99000"/>
                </a:schemeClr>
              </a:solidFill>
              <a:effectLst>
                <a:outerShdw blurRad="38100" dist="38100" dir="2700000" algn="tl">
                  <a:schemeClr val="accent2">
                    <a:lumMod val="0"/>
                    <a:alpha val="43137"/>
                  </a:schemeClr>
                </a:outerShdw>
              </a:effectLst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4827270" y="3710940"/>
            <a:ext cx="2358390" cy="561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讲稿制作</a:t>
            </a:r>
            <a:r>
              <a:rPr 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zh-CN" alt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张雅晨</a:t>
            </a:r>
            <a:endParaRPr lang="zh-CN" altLang="en-US" sz="1950">
              <a:solidFill>
                <a:srgbClr val="833814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6265" y="3727450"/>
            <a:ext cx="4038600" cy="36893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Solution</a:t>
            </a:r>
            <a:r>
              <a:rPr lang="zh-CN" alt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和代码</a:t>
            </a:r>
            <a:r>
              <a:rPr 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zh-CN" altLang="en-US" sz="1950">
                <a:solidFill>
                  <a:srgbClr val="833814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周晨旭、王甬拓</a:t>
            </a:r>
            <a:endParaRPr lang="zh-CN" altLang="en-US" sz="1950">
              <a:solidFill>
                <a:srgbClr val="833814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24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15" y="0"/>
            <a:ext cx="12186285" cy="6858000"/>
          </a:xfrm>
          <a:prstGeom prst="rect">
            <a:avLst/>
          </a:prstGeom>
        </p:spPr>
      </p:pic>
      <p:pic>
        <p:nvPicPr>
          <p:cNvPr id="20002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86285" cy="6858000"/>
          </a:xfrm>
          <a:prstGeom prst="rect">
            <a:avLst/>
          </a:prstGeom>
        </p:spPr>
      </p:pic>
      <p:sp>
        <p:nvSpPr>
          <p:cNvPr id="200007" name="TextBox 4"/>
          <p:cNvSpPr txBox="1"/>
          <p:nvPr/>
        </p:nvSpPr>
        <p:spPr>
          <a:xfrm>
            <a:off x="4845685" y="1108393"/>
            <a:ext cx="3104515" cy="443039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228600" lvl="1" indent="-228600" algn="l">
              <a:lnSpc>
                <a:spcPct val="180000"/>
              </a:lnSpc>
              <a:buFont typeface="Arial" panose="020B0604020202020204"/>
              <a:buChar char="•"/>
            </a:pPr>
            <a:r>
              <a:rPr lang="zh-CN" altLang="en-US" sz="32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</a:rPr>
              <a:t>数据</a:t>
            </a:r>
            <a:r>
              <a:rPr lang="en-US" sz="32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</a:rPr>
              <a:t>背景</a:t>
            </a:r>
            <a:endParaRPr lang="en-US" sz="32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  <a:p>
            <a:pPr marL="228600" lvl="1" indent="-228600" algn="l">
              <a:lnSpc>
                <a:spcPct val="18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</a:rPr>
              <a:t>Q1 人口特征</a:t>
            </a:r>
            <a:endParaRPr lang="zh-CN" alt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  <a:p>
            <a:pPr marL="228600" lvl="1" indent="-228600" algn="l">
              <a:lnSpc>
                <a:spcPct val="18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</a:rPr>
              <a:t>Q2 社交活动</a:t>
            </a:r>
            <a:endParaRPr lang="zh-CN" alt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  <a:p>
            <a:pPr marL="0" lvl="1" indent="-228600" algn="l">
              <a:lnSpc>
                <a:spcPct val="18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  <a:sym typeface="+mn-ea"/>
              </a:rPr>
              <a:t>Q3 商业经济</a:t>
            </a:r>
            <a:endParaRPr lang="zh-CN" alt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  <a:p>
            <a:pPr marL="228600" lvl="1" indent="-228600" algn="l">
              <a:lnSpc>
                <a:spcPct val="180000"/>
              </a:lnSpc>
              <a:buClrTx/>
              <a:buSzTx/>
              <a:buFont typeface="Arial" panose="020B0604020202020204"/>
              <a:buChar char="•"/>
            </a:pPr>
            <a:endParaRPr lang="zh-CN" alt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</p:txBody>
      </p:sp>
      <p:sp>
        <p:nvSpPr>
          <p:cNvPr id="200015" name="TextBox 5"/>
          <p:cNvSpPr txBox="1"/>
          <p:nvPr/>
        </p:nvSpPr>
        <p:spPr>
          <a:xfrm>
            <a:off x="2192020" y="1927860"/>
            <a:ext cx="857250" cy="27082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800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目录</a:t>
            </a:r>
            <a:endParaRPr lang="en-US" sz="8800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200017" name="TextBox 6"/>
          <p:cNvSpPr txBox="1"/>
          <p:nvPr/>
        </p:nvSpPr>
        <p:spPr>
          <a:xfrm rot="5400000">
            <a:off x="2315845" y="3182620"/>
            <a:ext cx="241617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833814">
                    <a:alpha val="100000"/>
                  </a:srgbClr>
                </a:solidFill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</a:rPr>
              <a:t>CONTENTS</a:t>
            </a:r>
            <a:endParaRPr lang="en-US" sz="3200">
              <a:solidFill>
                <a:srgbClr val="833814">
                  <a:alpha val="100000"/>
                </a:srgbClr>
              </a:solidFill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63915" y="1483360"/>
            <a:ext cx="3442335" cy="4027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lvl="1" indent="-228600" algn="l">
              <a:lnSpc>
                <a:spcPct val="18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  <a:sym typeface="+mn-ea"/>
              </a:rPr>
              <a:t>Q4 综合概览</a:t>
            </a:r>
            <a:endParaRPr lang="zh-CN" alt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  <a:p>
            <a:pPr marL="228600" lvl="1" indent="-228600" algn="l">
              <a:lnSpc>
                <a:spcPct val="18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  <a:sym typeface="+mn-ea"/>
              </a:rPr>
              <a:t>总结与建议</a:t>
            </a:r>
            <a:endParaRPr lang="zh-CN" alt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  <a:p>
            <a:pPr marL="228600" lvl="1" indent="-228600" algn="l">
              <a:lnSpc>
                <a:spcPct val="18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 Medium" panose="020B0200000000000000" charset="-122"/>
                <a:ea typeface="Noto Sans SC Medium" panose="020B0200000000000000" charset="-122"/>
                <a:cs typeface="Noto Sans SC Medium" panose="020B0200000000000000" charset="-122"/>
                <a:sym typeface="+mn-ea"/>
              </a:rPr>
              <a:t>技术方法</a:t>
            </a:r>
            <a:endParaRPr lang="zh-CN" alt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 Medium" panose="020B0200000000000000" charset="-122"/>
              <a:ea typeface="Noto Sans SC Medium" panose="020B0200000000000000" charset="-122"/>
              <a:cs typeface="Noto Sans SC Medium" panose="020B0200000000000000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TextBox 2"/>
          <p:cNvSpPr txBox="1"/>
          <p:nvPr/>
        </p:nvSpPr>
        <p:spPr>
          <a:xfrm>
            <a:off x="3027971" y="2067616"/>
            <a:ext cx="6547539" cy="142510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数据</a:t>
            </a:r>
            <a:r>
              <a:rPr lang="en-US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背景</a:t>
            </a:r>
            <a:endParaRPr lang="en-US" sz="7200" b="1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900028" name="TextBox 3"/>
          <p:cNvSpPr txBox="1"/>
          <p:nvPr/>
        </p:nvSpPr>
        <p:spPr>
          <a:xfrm>
            <a:off x="1406208" y="382905"/>
            <a:ext cx="2465705" cy="16846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10200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01</a:t>
            </a:r>
            <a:endParaRPr lang="en-US" sz="1020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002" name="TextBox 2"/>
          <p:cNvSpPr txBox="1"/>
          <p:nvPr>
            <p:custDataLst>
              <p:tags r:id="rId2"/>
            </p:custDataLst>
          </p:nvPr>
        </p:nvSpPr>
        <p:spPr>
          <a:xfrm>
            <a:off x="591125" y="2110894"/>
            <a:ext cx="369656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分析基于15个月（2022.03-2023.05）的1.14亿条活动日志记录，涵盖1,011名居民的全维度行为数据。核心数据集包括人口属性、金融交易、场所签到等结构化信息。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03" name="TextBox 3"/>
          <p:cNvSpPr txBox="1"/>
          <p:nvPr>
            <p:custDataLst>
              <p:tags r:id="rId3"/>
            </p:custDataLst>
          </p:nvPr>
        </p:nvSpPr>
        <p:spPr>
          <a:xfrm>
            <a:off x="607698" y="1650147"/>
            <a:ext cx="3679987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数据基础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04" name="TextBox 4"/>
          <p:cNvSpPr txBox="1"/>
          <p:nvPr>
            <p:custDataLst>
              <p:tags r:id="rId4"/>
            </p:custDataLst>
          </p:nvPr>
        </p:nvSpPr>
        <p:spPr>
          <a:xfrm>
            <a:off x="563125" y="4426629"/>
            <a:ext cx="372456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缺乏性别、职业等关键字段，部分经济指标需通过建筑-场所匹配等间接方法推算，影响行业分类精度。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05" name="TextBox 5"/>
          <p:cNvSpPr txBox="1"/>
          <p:nvPr>
            <p:custDataLst>
              <p:tags r:id="rId5"/>
            </p:custDataLst>
          </p:nvPr>
        </p:nvSpPr>
        <p:spPr>
          <a:xfrm>
            <a:off x="579698" y="3965882"/>
            <a:ext cx="3707987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数据局限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06" name="TextBox 6"/>
          <p:cNvSpPr txBox="1"/>
          <p:nvPr>
            <p:custDataLst>
              <p:tags r:id="rId6"/>
            </p:custDataLst>
          </p:nvPr>
        </p:nvSpPr>
        <p:spPr>
          <a:xfrm>
            <a:off x="7913397" y="2110894"/>
            <a:ext cx="363680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采用1,011条志愿者记录作为分析样本，虽存在潜在选择偏差，但年龄、教育等维度的多样性验证了样本的统计显著性。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07" name="TextBox 7"/>
          <p:cNvSpPr txBox="1"/>
          <p:nvPr>
            <p:custDataLst>
              <p:tags r:id="rId7"/>
            </p:custDataLst>
          </p:nvPr>
        </p:nvSpPr>
        <p:spPr>
          <a:xfrm>
            <a:off x="7913397" y="1650147"/>
            <a:ext cx="36533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样本代表性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08" name="TextBox 8"/>
          <p:cNvSpPr txBox="1"/>
          <p:nvPr>
            <p:custDataLst>
              <p:tags r:id="rId8"/>
            </p:custDataLst>
          </p:nvPr>
        </p:nvSpPr>
        <p:spPr>
          <a:xfrm>
            <a:off x="7913397" y="4426629"/>
            <a:ext cx="360880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使用fastparquet处理超大规模日志数据，通过Streamlit构建交互式报告界面，确保分析过程可复现。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09" name="TextBox 9"/>
          <p:cNvSpPr txBox="1"/>
          <p:nvPr>
            <p:custDataLst>
              <p:tags r:id="rId9"/>
            </p:custDataLst>
          </p:nvPr>
        </p:nvSpPr>
        <p:spPr>
          <a:xfrm>
            <a:off x="7913397" y="3965882"/>
            <a:ext cx="36253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处理挑战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EngageTown数据规模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11" name="Freeform 11"/>
          <p:cNvSpPr/>
          <p:nvPr>
            <p:custDataLst>
              <p:tags r:id="rId10"/>
            </p:custDataLst>
          </p:nvPr>
        </p:nvSpPr>
        <p:spPr>
          <a:xfrm>
            <a:off x="5298153" y="3104315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00012" name="Freeform 12"/>
          <p:cNvSpPr/>
          <p:nvPr>
            <p:custDataLst>
              <p:tags r:id="rId11"/>
            </p:custDataLst>
          </p:nvPr>
        </p:nvSpPr>
        <p:spPr>
          <a:xfrm>
            <a:off x="4434792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500013" name="Freeform 13"/>
          <p:cNvSpPr/>
          <p:nvPr>
            <p:custDataLst>
              <p:tags r:id="rId12"/>
            </p:custDataLst>
          </p:nvPr>
        </p:nvSpPr>
        <p:spPr>
          <a:xfrm>
            <a:off x="6159720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500014" name="Freeform 14"/>
          <p:cNvSpPr/>
          <p:nvPr>
            <p:custDataLst>
              <p:tags r:id="rId13"/>
            </p:custDataLst>
          </p:nvPr>
        </p:nvSpPr>
        <p:spPr>
          <a:xfrm>
            <a:off x="6159720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00015" name="Freeform 15"/>
          <p:cNvSpPr/>
          <p:nvPr>
            <p:custDataLst>
              <p:tags r:id="rId14"/>
            </p:custDataLst>
          </p:nvPr>
        </p:nvSpPr>
        <p:spPr>
          <a:xfrm>
            <a:off x="4434792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00016" name="TextBox 16"/>
          <p:cNvSpPr txBox="1"/>
          <p:nvPr>
            <p:custDataLst>
              <p:tags r:id="rId15"/>
            </p:custDataLst>
          </p:nvPr>
        </p:nvSpPr>
        <p:spPr>
          <a:xfrm>
            <a:off x="4808721" y="2798715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17" name="TextBox 17"/>
          <p:cNvSpPr txBox="1"/>
          <p:nvPr>
            <p:custDataLst>
              <p:tags r:id="rId16"/>
            </p:custDataLst>
          </p:nvPr>
        </p:nvSpPr>
        <p:spPr>
          <a:xfrm>
            <a:off x="6533649" y="2798715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18" name="TextBox 18"/>
          <p:cNvSpPr txBox="1"/>
          <p:nvPr>
            <p:custDataLst>
              <p:tags r:id="rId17"/>
            </p:custDataLst>
          </p:nvPr>
        </p:nvSpPr>
        <p:spPr>
          <a:xfrm>
            <a:off x="4808721" y="4523643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19" name="TextBox 19"/>
          <p:cNvSpPr txBox="1"/>
          <p:nvPr>
            <p:custDataLst>
              <p:tags r:id="rId18"/>
            </p:custDataLst>
          </p:nvPr>
        </p:nvSpPr>
        <p:spPr>
          <a:xfrm>
            <a:off x="6533649" y="4523643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00020" name="Freeform 20"/>
          <p:cNvSpPr/>
          <p:nvPr>
            <p:custDataLst>
              <p:tags r:id="rId19"/>
            </p:custDataLst>
          </p:nvPr>
        </p:nvSpPr>
        <p:spPr>
          <a:xfrm>
            <a:off x="5811147" y="368013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9753600" h="9753600">
                <a:moveTo>
                  <a:pt x="9480575" y="2318400"/>
                </a:moveTo>
                <a:cubicBezTo>
                  <a:pt x="9330477" y="1970037"/>
                  <a:pt x="9115410" y="1658638"/>
                  <a:pt x="8843216" y="1390924"/>
                </a:cubicBezTo>
                <a:cubicBezTo>
                  <a:pt x="8571022" y="1124331"/>
                  <a:pt x="8255142" y="915985"/>
                  <a:pt x="7902298" y="769247"/>
                </a:cubicBezTo>
                <a:cubicBezTo>
                  <a:pt x="7538253" y="618028"/>
                  <a:pt x="7152924" y="541858"/>
                  <a:pt x="6755275" y="541858"/>
                </a:cubicBezTo>
                <a:cubicBezTo>
                  <a:pt x="6203046" y="541858"/>
                  <a:pt x="5664258" y="693077"/>
                  <a:pt x="5196040" y="978713"/>
                </a:cubicBezTo>
                <a:cubicBezTo>
                  <a:pt x="5084026" y="1047041"/>
                  <a:pt x="4977613" y="1122091"/>
                  <a:pt x="4876800" y="1203861"/>
                </a:cubicBezTo>
                <a:cubicBezTo>
                  <a:pt x="4775987" y="1122091"/>
                  <a:pt x="4669574" y="1047041"/>
                  <a:pt x="4557560" y="978713"/>
                </a:cubicBezTo>
                <a:cubicBezTo>
                  <a:pt x="4089342" y="693077"/>
                  <a:pt x="3550554" y="541858"/>
                  <a:pt x="2998325" y="541858"/>
                </a:cubicBezTo>
                <a:cubicBezTo>
                  <a:pt x="2600676" y="541858"/>
                  <a:pt x="2215347" y="618028"/>
                  <a:pt x="1851302" y="769247"/>
                </a:cubicBezTo>
                <a:cubicBezTo>
                  <a:pt x="1499578" y="914865"/>
                  <a:pt x="1182578" y="1124331"/>
                  <a:pt x="910384" y="1390924"/>
                </a:cubicBezTo>
                <a:cubicBezTo>
                  <a:pt x="637070" y="1658638"/>
                  <a:pt x="423123" y="1970037"/>
                  <a:pt x="273025" y="2318400"/>
                </a:cubicBezTo>
                <a:cubicBezTo>
                  <a:pt x="117325" y="2680205"/>
                  <a:pt x="37795" y="3064413"/>
                  <a:pt x="37795" y="3459823"/>
                </a:cubicBezTo>
                <a:cubicBezTo>
                  <a:pt x="37795" y="3832830"/>
                  <a:pt x="113965" y="4221518"/>
                  <a:pt x="265184" y="4616928"/>
                </a:cubicBezTo>
                <a:cubicBezTo>
                  <a:pt x="391759" y="4947369"/>
                  <a:pt x="573222" y="5290132"/>
                  <a:pt x="805091" y="5636255"/>
                </a:cubicBezTo>
                <a:cubicBezTo>
                  <a:pt x="1172497" y="6184003"/>
                  <a:pt x="1677680" y="6755275"/>
                  <a:pt x="2304959" y="7334387"/>
                </a:cubicBezTo>
                <a:cubicBezTo>
                  <a:pt x="3344448" y="8294347"/>
                  <a:pt x="4373857" y="8957470"/>
                  <a:pt x="4417543" y="8984353"/>
                </a:cubicBezTo>
                <a:lnTo>
                  <a:pt x="4683016" y="9154615"/>
                </a:lnTo>
                <a:cubicBezTo>
                  <a:pt x="4800630" y="9229664"/>
                  <a:pt x="4951849" y="9229664"/>
                  <a:pt x="5069464" y="9154615"/>
                </a:cubicBezTo>
                <a:lnTo>
                  <a:pt x="5334937" y="8984353"/>
                </a:lnTo>
                <a:cubicBezTo>
                  <a:pt x="5378623" y="8956350"/>
                  <a:pt x="6406911" y="8294347"/>
                  <a:pt x="7447521" y="7334387"/>
                </a:cubicBezTo>
                <a:cubicBezTo>
                  <a:pt x="8074800" y="6755275"/>
                  <a:pt x="8579983" y="6184003"/>
                  <a:pt x="8947389" y="5636255"/>
                </a:cubicBezTo>
                <a:cubicBezTo>
                  <a:pt x="9179258" y="5290132"/>
                  <a:pt x="9361841" y="4947369"/>
                  <a:pt x="9487296" y="4616928"/>
                </a:cubicBezTo>
                <a:cubicBezTo>
                  <a:pt x="9638515" y="4221518"/>
                  <a:pt x="9714685" y="3832830"/>
                  <a:pt x="9714685" y="3459823"/>
                </a:cubicBezTo>
                <a:cubicBezTo>
                  <a:pt x="9715805" y="3064413"/>
                  <a:pt x="9636275" y="2680205"/>
                  <a:pt x="9480575" y="2318400"/>
                </a:cubicBezTo>
              </a:path>
            </a:pathLst>
          </a:custGeom>
          <a:solidFill>
            <a:srgbClr val="FFFFFE">
              <a:alpha val="100000"/>
            </a:srgbClr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问题分析：四个问题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7734" y="1508670"/>
            <a:ext cx="5394245" cy="2536699"/>
          </a:xfrm>
          <a:prstGeom prst="round2Same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481934" y="1173406"/>
            <a:ext cx="631444" cy="6463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1672828" y="1508670"/>
            <a:ext cx="3541000" cy="594584"/>
          </a:xfrm>
          <a:prstGeom prst="rect">
            <a:avLst/>
          </a:prstGeom>
          <a:noFill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人口特征刻画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1335042" y="1885715"/>
            <a:ext cx="4307099" cy="170358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indent="457200" algn="l">
              <a:lnSpc>
                <a:spcPct val="120000"/>
              </a:lnSpc>
            </a:pPr>
            <a:r>
              <a:rPr lang="en-US" sz="2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通过9幅图表揭示年龄右偏态分布（均值39.1岁）、教育-财富正相关等特征，指出劳动年龄主导型社区的结构性风险。</a:t>
            </a:r>
            <a:endParaRPr lang="en-US" sz="2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63459" y="1261142"/>
            <a:ext cx="668393" cy="47092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762057" y="4118688"/>
            <a:ext cx="5394245" cy="2536699"/>
          </a:xfrm>
          <a:prstGeom prst="round2Same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1675667" y="4118688"/>
            <a:ext cx="3535323" cy="594584"/>
          </a:xfrm>
          <a:prstGeom prst="rect">
            <a:avLst/>
          </a:prstGeom>
          <a:noFill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经济结构解析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1424348" y="4607093"/>
            <a:ext cx="4217386" cy="184275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indent="457200" algn="l">
              <a:lnSpc>
                <a:spcPct val="120000"/>
              </a:lnSpc>
              <a:buClrTx/>
              <a:buSzTx/>
              <a:buFontTx/>
            </a:pPr>
            <a:r>
              <a:rPr lang="en-US" sz="2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识别253家小微企业构成的分布式生态系统，休闲支出占比异常高（与食品支出持平）反映独特消费文化。</a:t>
            </a:r>
            <a:endParaRPr lang="en-US" sz="2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329872" y="1469351"/>
            <a:ext cx="5394245" cy="2536699"/>
          </a:xfrm>
          <a:prstGeom prst="round2Same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6044071" y="1134087"/>
            <a:ext cx="631444" cy="6463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7183533" y="1469351"/>
            <a:ext cx="3570904" cy="594584"/>
          </a:xfrm>
          <a:prstGeom prst="rect">
            <a:avLst/>
          </a:prstGeom>
          <a:noFill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社交网络分析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6964957" y="1881504"/>
            <a:ext cx="4187482" cy="184275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indent="457200" algn="l">
              <a:lnSpc>
                <a:spcPct val="120000"/>
              </a:lnSpc>
              <a:buClrTx/>
              <a:buSzTx/>
              <a:buFontTx/>
            </a:pPr>
            <a:r>
              <a:rPr lang="en-US" sz="2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构建963节点、80,483边的加权无向图，发现28个强社区结构（模块度0.5194）及傍晚活动峰值等十项行为模式</a:t>
            </a:r>
            <a:r>
              <a:rPr lang="zh-CN" altLang="en-US" sz="2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。</a:t>
            </a:r>
            <a:endParaRPr lang="zh-CN" altLang="en-US" sz="2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6025597" y="1221823"/>
            <a:ext cx="668393" cy="47092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6324195" y="4079369"/>
            <a:ext cx="5394245" cy="2536699"/>
          </a:xfrm>
          <a:prstGeom prst="round2Same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6038394" y="3744105"/>
            <a:ext cx="631444" cy="6463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6935052" y="4607093"/>
            <a:ext cx="4247291" cy="184275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indent="457200" algn="l">
              <a:lnSpc>
                <a:spcPct val="120000"/>
              </a:lnSpc>
              <a:buClrTx/>
              <a:buSzTx/>
              <a:buFontTx/>
            </a:pPr>
            <a:r>
              <a:rPr lang="en-US" sz="2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集成前三项发现，通过信息图形式呈现人口-社交-经济关联，预警代际断层与经济单一性等潜在脆弱性。</a:t>
            </a:r>
            <a:endParaRPr lang="en-US" sz="2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6019920" y="3831841"/>
            <a:ext cx="668393" cy="47092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9"/>
            </p:custDataLst>
          </p:nvPr>
        </p:nvSpPr>
        <p:spPr>
          <a:xfrm>
            <a:off x="442614" y="3724550"/>
            <a:ext cx="631444" cy="6463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1" name="TextBox 21"/>
          <p:cNvSpPr txBox="1"/>
          <p:nvPr>
            <p:custDataLst>
              <p:tags r:id="rId20"/>
            </p:custDataLst>
          </p:nvPr>
        </p:nvSpPr>
        <p:spPr>
          <a:xfrm>
            <a:off x="424140" y="3812286"/>
            <a:ext cx="668393" cy="47092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21"/>
            </p:custDataLst>
          </p:nvPr>
        </p:nvSpPr>
        <p:spPr>
          <a:xfrm>
            <a:off x="7183533" y="4079369"/>
            <a:ext cx="3570904" cy="594584"/>
          </a:xfrm>
          <a:prstGeom prst="rect">
            <a:avLst/>
          </a:prstGeom>
          <a:noFill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综合城市画像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TextBox 2"/>
          <p:cNvSpPr txBox="1"/>
          <p:nvPr/>
        </p:nvSpPr>
        <p:spPr>
          <a:xfrm>
            <a:off x="3027971" y="2067616"/>
            <a:ext cx="6547539" cy="142510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Q1 </a:t>
            </a:r>
            <a:r>
              <a:rPr lang="zh-CN" altLang="en-US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人口特征</a:t>
            </a:r>
            <a:endParaRPr lang="zh-CN" altLang="en-US" sz="7200" b="1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900028" name="TextBox 3"/>
          <p:cNvSpPr txBox="1"/>
          <p:nvPr/>
        </p:nvSpPr>
        <p:spPr>
          <a:xfrm>
            <a:off x="1406208" y="382905"/>
            <a:ext cx="2465705" cy="16846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7500"/>
          </a:bodyPr>
          <a:lstStyle/>
          <a:p>
            <a:pPr algn="ctr">
              <a:lnSpc>
                <a:spcPct val="80000"/>
              </a:lnSpc>
            </a:pPr>
            <a:r>
              <a:rPr lang="en-US" sz="10200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02</a:t>
            </a:r>
            <a:endParaRPr lang="en-US" sz="1020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1345" b="1345"/>
          <a:stretch>
            <a:fillRect/>
          </a:stretch>
        </p:blipFill>
        <p:spPr>
          <a:xfrm>
            <a:off x="4462463" y="2088070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3" name="TextBox 3"/>
          <p:cNvSpPr txBox="1"/>
          <p:nvPr/>
        </p:nvSpPr>
        <p:spPr>
          <a:xfrm>
            <a:off x="742971" y="2306715"/>
            <a:ext cx="3314231" cy="64799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人口结构特征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059848" y="1716027"/>
            <a:ext cx="3794740" cy="196811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居民教育水平与经济状况呈正相关，研究生学历者平均可用余额显著高于低学历群体，印证了教育对收入的重要影响。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59848" y="1097369"/>
            <a:ext cx="3314231" cy="62295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教育与经济关联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059848" y="4019931"/>
            <a:ext cx="3314231" cy="547835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家庭与社会多样性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59848" y="4565142"/>
            <a:ext cx="3794740" cy="1995832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户均规模2.0人，30%家庭有子女，10个兴趣组分布均匀，每组约101人，社区社会结构多元化且均衡。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01320" y="2954655"/>
            <a:ext cx="3730625" cy="211582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EngageTown以劳动年龄人口为主，平均年龄39.1岁，30-44岁年龄段占比最高，呈现轻微右偏态分布，老年人口比例较低，表明社区经济活跃度高。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465353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核心发现概述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chart_q1_01_age_h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5" y="911225"/>
            <a:ext cx="10494010" cy="5831205"/>
          </a:xfrm>
          <a:prstGeom prst="rect">
            <a:avLst/>
          </a:prstGeom>
        </p:spPr>
      </p:pic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8074660" y="852805"/>
            <a:ext cx="3943350" cy="227393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图1.1显示人口集中在30-44岁年龄段，均值和中位数均为39岁左右，右偏态分布表明老年人口较少，符合劳动导向型社区特征。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关键图表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年龄分布图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426583" y="6292253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1.1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1_04_edu_bal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833755"/>
            <a:ext cx="10627360" cy="5904230"/>
          </a:xfrm>
          <a:prstGeom prst="rect">
            <a:avLst/>
          </a:prstGeom>
        </p:spPr>
      </p:pic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6226175" y="1685290"/>
            <a:ext cx="2978150" cy="348742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图1.4展示教育水平与可用余额的正相关关系，研究生学历者余额最高，凸显教育对经济状况的直接影响。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关键图表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：教育水平</a:t>
            </a: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分布图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399278" y="6407823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1.4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rt_q1_07_interest_grou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" y="833120"/>
            <a:ext cx="10829290" cy="6016625"/>
          </a:xfrm>
          <a:prstGeom prst="rect">
            <a:avLst/>
          </a:prstGeom>
        </p:spPr>
      </p:pic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4399280" y="583565"/>
            <a:ext cx="4833620" cy="202565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图1.7显示10个兴趣组人数分布均匀，每组约101人，反映社区社会活动的多样性和均衡性，支持社交网络的强社区结构。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关键图表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兴趣组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572885" y="6476365"/>
            <a:ext cx="6148070" cy="4502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1.7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701016" y="2004461"/>
            <a:ext cx="8946338" cy="55578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经济循环机制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701040" y="2560320"/>
            <a:ext cx="9576435" cy="76390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极低的老年人口占比意味着社区</a:t>
            </a:r>
            <a:r>
              <a:rPr lang="zh-CN" altLang="en-US" sz="2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缺乏代际传承机制</a:t>
            </a: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，未来可能面临劳动力断层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33808" y="44566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深层洞察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4"/>
            </p:custDataLst>
          </p:nvPr>
        </p:nvSpPr>
        <p:spPr>
          <a:xfrm>
            <a:off x="701016" y="2883819"/>
            <a:ext cx="8946338" cy="55578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社会结构脆弱性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5"/>
            </p:custDataLst>
          </p:nvPr>
        </p:nvSpPr>
        <p:spPr>
          <a:xfrm>
            <a:off x="675005" y="3439795"/>
            <a:ext cx="9453245" cy="76390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小家庭化趋势</a:t>
            </a: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虽然</a:t>
            </a: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降低抚养比，</a:t>
            </a: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但也意味着</a:t>
            </a:r>
            <a:r>
              <a:rPr lang="zh-CN" altLang="en-US" sz="2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社区长期增长依赖外部迁入</a:t>
            </a: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而非自然增长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701016" y="3963737"/>
            <a:ext cx="8946338" cy="55578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人力资本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701016" y="4524170"/>
            <a:ext cx="8972550" cy="763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教育-财富的正相关表明</a:t>
            </a:r>
            <a:r>
              <a:rPr lang="zh-CN" altLang="en-US" sz="2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人力资本是经济流动性的关键通道</a:t>
            </a: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，低学历群体可能陷入"低技能-低收入"陷阱。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5005" y="1051560"/>
            <a:ext cx="10327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EngageTown 的人口结构揭示了一个</a:t>
            </a:r>
            <a:r>
              <a:rPr lang="zh-CN" altLang="en-US" sz="2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自我强化的循环</a:t>
            </a: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——劳动年龄人口聚集支撑小微企业，小微企业就业机会又吸引年轻劳动力流入。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5005" y="5492750"/>
            <a:ext cx="9516745" cy="1038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对城市规划者的启示：</a:t>
            </a: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应前瞻性布局养老设施和托幼服务，同时通过职业技能培训打破教育-收入的刚性关联。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TextBox 2"/>
          <p:cNvSpPr txBox="1"/>
          <p:nvPr/>
        </p:nvSpPr>
        <p:spPr>
          <a:xfrm>
            <a:off x="3027971" y="2067616"/>
            <a:ext cx="6547539" cy="142510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Q2 </a:t>
            </a:r>
            <a:r>
              <a:rPr lang="zh-CN" altLang="en-US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社交活动</a:t>
            </a:r>
            <a:endParaRPr lang="zh-CN" altLang="en-US" sz="7200" b="1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900028" name="TextBox 3"/>
          <p:cNvSpPr txBox="1"/>
          <p:nvPr/>
        </p:nvSpPr>
        <p:spPr>
          <a:xfrm>
            <a:off x="1406208" y="382905"/>
            <a:ext cx="2465705" cy="16846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7500"/>
          </a:bodyPr>
          <a:lstStyle/>
          <a:p>
            <a:pPr algn="ctr">
              <a:lnSpc>
                <a:spcPct val="80000"/>
              </a:lnSpc>
            </a:pPr>
            <a:r>
              <a:rPr lang="en-US" sz="10200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03</a:t>
            </a:r>
            <a:endParaRPr lang="en-US" sz="1020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6978" r="26978"/>
          <a:stretch>
            <a:fillRect/>
          </a:stretch>
        </p:blipFill>
        <p:spPr>
          <a:xfrm>
            <a:off x="4462463" y="2088071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3" name="TextBox 3"/>
          <p:cNvSpPr txBox="1"/>
          <p:nvPr/>
        </p:nvSpPr>
        <p:spPr>
          <a:xfrm>
            <a:off x="742971" y="2306715"/>
            <a:ext cx="3314231" cy="64799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社交网络均质化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059848" y="1716027"/>
            <a:ext cx="3794740" cy="196811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Louvain算法检测出28个分离良好的社交集群，模块度Q值达0.5194，这些集群与兴趣组、工作场所和邻里关系高度对应，形成明确的社交边界。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59848" y="1097369"/>
            <a:ext cx="3314231" cy="62295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社区结构特征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059848" y="4019931"/>
            <a:ext cx="3314231" cy="547835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三元闭包现象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59848" y="4565142"/>
            <a:ext cx="3794740" cy="1995832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网络平均聚类系数（0.0714）显著高于网络密度（0.1738），表明居民倾向于通过共同背景建立紧密联系，"朋友的朋友亦是朋友"模式普遍存在。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01071" y="2954711"/>
            <a:ext cx="3656131" cy="211596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EngageTown居民的社交连接呈现近似正态分布，大多数居民维持相似规模的社交圈，缺乏典型的"超级连接者"，表明社交机会相对均等。</a:t>
            </a:r>
            <a:endParaRPr 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项显著模式概览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chart_q2_01_degree_d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5" y="936625"/>
            <a:ext cx="10658475" cy="5921375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网络结构（度分布）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189763" y="2413403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度分布分析</a:t>
            </a:r>
            <a:endParaRPr lang="en-US" sz="1100"/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189763" y="2851782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加权度在对数坐标下呈现近似正态分布（图2.1），表明居民社交连接数量相对均衡，未出现极端集中现象，与无标度网络特征形成鲜明对比。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endParaRPr lang="en-US" sz="1100"/>
          </a:p>
        </p:txBody>
      </p:sp>
      <p:sp>
        <p:nvSpPr>
          <p:cNvPr id="18" name="文本框 17"/>
          <p:cNvSpPr txBox="1"/>
          <p:nvPr/>
        </p:nvSpPr>
        <p:spPr>
          <a:xfrm>
            <a:off x="7031355" y="653034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rt_q2_02_communit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5" y="973455"/>
            <a:ext cx="10342245" cy="574548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网络结构（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社区检验结果</a:t>
            </a: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189763" y="2413403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社区检测结果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189763" y="2851782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图2.2显示社区规模从10人到80人不等，模块化结构反映了兴趣组的分化，这种结构既促进内部凝聚力，也可能限制跨社区信息流动。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endParaRPr lang="en-US" sz="1100"/>
          </a:p>
        </p:txBody>
      </p:sp>
      <p:sp>
        <p:nvSpPr>
          <p:cNvPr id="18" name="文本框 17"/>
          <p:cNvSpPr txBox="1"/>
          <p:nvPr/>
        </p:nvSpPr>
        <p:spPr>
          <a:xfrm>
            <a:off x="6317615" y="6391275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hart_q2_03_cluste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" y="1003300"/>
            <a:ext cx="10158730" cy="5643245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网络结构（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平均聚类系数</a:t>
            </a: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189763" y="2413403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聚类系数解读</a:t>
            </a:r>
            <a:endParaRPr lang="en-US" sz="1100"/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189763" y="2851782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图2.3展示的高聚类系数验证了现实社交网络的典型特征，局部紧密连接占比显著高于随机网络，说明居民社交关系具有高度重叠性。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endParaRPr lang="en-US" sz="1100"/>
          </a:p>
        </p:txBody>
      </p:sp>
      <p:sp>
        <p:nvSpPr>
          <p:cNvPr id="18" name="文本框 17"/>
          <p:cNvSpPr txBox="1"/>
          <p:nvPr/>
        </p:nvSpPr>
        <p:spPr>
          <a:xfrm>
            <a:off x="6797040" y="6318885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chart_q2_04_venue_typ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65" y="1051560"/>
            <a:ext cx="9926955" cy="551434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行为模式（场所）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6350990" y="1099637"/>
            <a:ext cx="3024645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场所偏好分析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6285149" y="1726693"/>
            <a:ext cx="3156327" cy="242710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图2.4显示公寓（37.6%）、工作场所（24.2%）和餐厅（21.3%）构成主要活动空间，餐饮类场所合计占比38.2%，凸显其作为社交枢纽的核心地位。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57900" y="623824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图2.4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2_05_hourly_activ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345"/>
            <a:ext cx="10119995" cy="562165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行为模式（时间节律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9544050" y="2630170"/>
            <a:ext cx="2647950" cy="57912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周末模式分化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9390380" y="3256915"/>
            <a:ext cx="2867660" cy="242697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图2.5揭示活动量呈现典型U型曲线，上午攀升，17:00-19:00达峰值，与劳动人口作息高度吻合，反映工作与休闲的规律转换。</a:t>
            </a:r>
            <a:endParaRPr lang="en-US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65395" y="645033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2_06_weekday_week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" y="1014730"/>
            <a:ext cx="9695815" cy="538607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行为模式（时间节律）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9716135" y="1147445"/>
            <a:ext cx="2387600" cy="57912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场所偏好分析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9678035" y="1774190"/>
            <a:ext cx="2491740" cy="242697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图2.6对比显示周末活动峰值延后2小时，休闲占比从3.1%升至8.9%，工作活动从31.8%骤降至4.0%，形成鲜明的工作-休闲二元节奏。</a:t>
            </a:r>
            <a:endParaRPr lang="en-US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57900" y="623824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chart_q2_07_age_soc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032510"/>
            <a:ext cx="10409555" cy="5782945"/>
          </a:xfrm>
          <a:prstGeom prst="rect">
            <a:avLst/>
          </a:prstGeom>
        </p:spPr>
      </p:pic>
      <p:sp>
        <p:nvSpPr>
          <p:cNvPr id="19" name="AutoShape 4"/>
          <p:cNvSpPr/>
          <p:nvPr>
            <p:custDataLst>
              <p:tags r:id="rId3"/>
            </p:custDataLst>
          </p:nvPr>
        </p:nvSpPr>
        <p:spPr>
          <a:xfrm>
            <a:off x="4189730" y="1758950"/>
            <a:ext cx="5178425" cy="2952750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人口关联（年龄-连接度）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48375" y="6487795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5"/>
          <p:cNvSpPr txBox="1"/>
          <p:nvPr>
            <p:custDataLst>
              <p:tags r:id="rId4"/>
            </p:custDataLst>
          </p:nvPr>
        </p:nvSpPr>
        <p:spPr>
          <a:xfrm>
            <a:off x="4756785" y="2637155"/>
            <a:ext cx="3950970" cy="35845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图2.7中LOWESS趋势线显示25-45岁群体社交最活跃，呈现倒U型关系，说明生命阶段显著影响社交参与度，壮年期为社交高峰。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0"/>
          <p:cNvSpPr txBox="1"/>
          <p:nvPr>
            <p:custDataLst>
              <p:tags r:id="rId5"/>
            </p:custDataLst>
          </p:nvPr>
        </p:nvSpPr>
        <p:spPr>
          <a:xfrm>
            <a:off x="5487670" y="2022475"/>
            <a:ext cx="2489200" cy="4502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年龄-连接曲线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1_04_edu_bal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5" y="1101090"/>
            <a:ext cx="9956800" cy="5531485"/>
          </a:xfrm>
          <a:prstGeom prst="rect">
            <a:avLst/>
          </a:prstGeom>
        </p:spPr>
      </p:pic>
      <p:sp>
        <p:nvSpPr>
          <p:cNvPr id="19" name="AutoShape 4"/>
          <p:cNvSpPr/>
          <p:nvPr>
            <p:custDataLst>
              <p:tags r:id="rId3"/>
            </p:custDataLst>
          </p:nvPr>
        </p:nvSpPr>
        <p:spPr>
          <a:xfrm>
            <a:off x="4931410" y="1951355"/>
            <a:ext cx="3776345" cy="3011170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人口关联（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教育</a:t>
            </a: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-</a:t>
            </a: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社交关联</a:t>
            </a: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51855" y="6304915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1.4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5"/>
          <p:cNvSpPr txBox="1"/>
          <p:nvPr>
            <p:custDataLst>
              <p:tags r:id="rId4"/>
            </p:custDataLst>
          </p:nvPr>
        </p:nvSpPr>
        <p:spPr>
          <a:xfrm>
            <a:off x="4931410" y="2704465"/>
            <a:ext cx="3776980" cy="194691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高学历群体虽在经济指标上占优（图1.4），但在社交连接度上未显现明显优势，表明经济地位与社交活跃度存在一定程度的解耦。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0"/>
          <p:cNvSpPr txBox="1"/>
          <p:nvPr>
            <p:custDataLst>
              <p:tags r:id="rId5"/>
            </p:custDataLst>
          </p:nvPr>
        </p:nvSpPr>
        <p:spPr>
          <a:xfrm>
            <a:off x="5815330" y="2108835"/>
            <a:ext cx="2489200" cy="4502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教育-社交关联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1_01_age_h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069340"/>
            <a:ext cx="10419715" cy="5788660"/>
          </a:xfrm>
          <a:prstGeom prst="rect">
            <a:avLst/>
          </a:prstGeom>
        </p:spPr>
      </p:pic>
      <p:sp>
        <p:nvSpPr>
          <p:cNvPr id="19" name="AutoShape 4"/>
          <p:cNvSpPr/>
          <p:nvPr>
            <p:custDataLst>
              <p:tags r:id="rId3"/>
            </p:custDataLst>
          </p:nvPr>
        </p:nvSpPr>
        <p:spPr>
          <a:xfrm>
            <a:off x="4189730" y="1758950"/>
            <a:ext cx="5178425" cy="2952750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人口关联（年龄-连接度）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48375" y="6487795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1.1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5"/>
          <p:cNvSpPr txBox="1"/>
          <p:nvPr>
            <p:custDataLst>
              <p:tags r:id="rId4"/>
            </p:custDataLst>
          </p:nvPr>
        </p:nvSpPr>
        <p:spPr>
          <a:xfrm>
            <a:off x="4756785" y="2637155"/>
            <a:ext cx="3950970" cy="35845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老年居民连接度随年龄增长持续下降，可能反映社交圈收缩或数字鸿沟，这种趋势与社区低老年人口占比（图1.1）形成相互印证。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0"/>
          <p:cNvSpPr txBox="1"/>
          <p:nvPr>
            <p:custDataLst>
              <p:tags r:id="rId5"/>
            </p:custDataLst>
          </p:nvPr>
        </p:nvSpPr>
        <p:spPr>
          <a:xfrm>
            <a:off x="5487670" y="2022475"/>
            <a:ext cx="2489200" cy="4502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代际差异分析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701016" y="2004461"/>
            <a:ext cx="8946338" cy="55578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社交生态悖论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701040" y="2560320"/>
            <a:ext cx="9576435" cy="76390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均质的度分布与强模块化社区并存，形成"平等中的隔离"现象，这种结构既保障基础连接公平，又可能阻碍跨群体信息传播。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33808" y="44566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深层洞察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4"/>
            </p:custDataLst>
          </p:nvPr>
        </p:nvSpPr>
        <p:spPr>
          <a:xfrm>
            <a:off x="727051" y="3545489"/>
            <a:ext cx="8946338" cy="55578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>
                <a:solidFill>
                  <a:schemeClr val="accent4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经济-社交异常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5"/>
            </p:custDataLst>
          </p:nvPr>
        </p:nvSpPr>
        <p:spPr>
          <a:xfrm>
            <a:off x="701016" y="4322240"/>
            <a:ext cx="8972550" cy="763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休闲支出与食品支出持平（图3.3）的反常模式，暗示居民将社交餐饮视为基本需求而非奢侈消费，形成独特的社会资本积累机制。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675005" y="1051560"/>
            <a:ext cx="10327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十项模式共同指向一个核心发现——EngageTown 的社交生态是一个高度自组织的系统，而非随机聚集。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7075" y="5086350"/>
            <a:ext cx="95167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chemeClr val="accent4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结</a:t>
            </a:r>
            <a:r>
              <a:rPr lang="en-US" sz="2400" b="1">
                <a:solidFill>
                  <a:schemeClr val="accent4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构脆弱性预警</a:t>
            </a:r>
            <a:endParaRPr lang="zh-CN" altLang="en-US" sz="20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1040" y="5732145"/>
            <a:ext cx="913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高度依赖少数桥接个体（图2.8）的信息传播体系存在单点故障风险，需通过培育替代性连接节点来增强网络韧性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TextBox 2"/>
          <p:cNvSpPr txBox="1"/>
          <p:nvPr/>
        </p:nvSpPr>
        <p:spPr>
          <a:xfrm>
            <a:off x="3027971" y="2067616"/>
            <a:ext cx="6547539" cy="142510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Q3 </a:t>
            </a:r>
            <a:r>
              <a:rPr lang="zh-CN" altLang="en-US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商业经济</a:t>
            </a:r>
            <a:endParaRPr lang="zh-CN" altLang="en-US" sz="7200" b="1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900028" name="TextBox 3"/>
          <p:cNvSpPr txBox="1"/>
          <p:nvPr/>
        </p:nvSpPr>
        <p:spPr>
          <a:xfrm>
            <a:off x="1406208" y="382905"/>
            <a:ext cx="2465705" cy="16846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7500"/>
          </a:bodyPr>
          <a:lstStyle/>
          <a:p>
            <a:pPr algn="ctr">
              <a:lnSpc>
                <a:spcPct val="80000"/>
              </a:lnSpc>
            </a:pPr>
            <a:r>
              <a:rPr lang="en-US" sz="10200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04</a:t>
            </a:r>
            <a:endParaRPr lang="en-US" sz="1020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833714" y="2030630"/>
            <a:ext cx="2299541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核心发现概述</a:t>
            </a:r>
            <a:endParaRPr 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92974" y="2516443"/>
            <a:ext cx="3456116" cy="3702601"/>
          </a:xfrm>
          <a:prstGeom prst="roundRect">
            <a:avLst>
              <a:gd name="adj" fmla="val 7848"/>
            </a:avLst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08710" y="2910022"/>
            <a:ext cx="3024645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经济结构特征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42869" y="3537078"/>
            <a:ext cx="3156327" cy="242710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EngageTown的经济由253家小微企业构成，雇员规模2-9人，形成分布式服务生态系统。这种结构与小型家庭人口模式（户均2.0人）高度匹配，体现社区内生的经济-人口平衡。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66124" y="2516443"/>
            <a:ext cx="3456116" cy="3702601"/>
          </a:xfrm>
          <a:prstGeom prst="roundRect">
            <a:avLst>
              <a:gd name="adj" fmla="val 7848"/>
            </a:avLst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581860" y="2910022"/>
            <a:ext cx="3024645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财务流动模式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552981" y="3537078"/>
            <a:ext cx="3082402" cy="242710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年工资总额达5563万美元，住房、休闲和食品支出占比最高。休闲支出与食品支出近乎持平的反常现象，反映居民将社交活动视为基本生活需求而非可选消费。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39274" y="2516443"/>
            <a:ext cx="3456116" cy="3702601"/>
          </a:xfrm>
          <a:prstGeom prst="roundRect">
            <a:avLst>
              <a:gd name="adj" fmla="val 7848"/>
            </a:avLst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355010" y="2910022"/>
            <a:ext cx="3024645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产业分化局限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262734" y="3537078"/>
            <a:ext cx="3209195" cy="2427106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仅11%的雇主可明确分类为餐饮或酒店业，89%为未分化商业体。缺乏主导产业和行业工资溢价，表明经济高度依赖本地日常服务需求。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rcRect l="6329" r="6329"/>
          <a:stretch>
            <a:fillRect/>
          </a:stretch>
        </p:blipFill>
        <p:spPr>
          <a:xfrm>
            <a:off x="5358286" y="1292917"/>
            <a:ext cx="1475427" cy="1475427"/>
          </a:xfrm>
          <a:prstGeom prst="ellipse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l="6329" r="6329"/>
          <a:stretch>
            <a:fillRect/>
          </a:stretch>
        </p:blipFill>
        <p:spPr>
          <a:xfrm>
            <a:off x="9121095" y="1292917"/>
            <a:ext cx="1475427" cy="1475427"/>
          </a:xfrm>
          <a:prstGeom prst="ellipse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l="6329" r="6329"/>
          <a:stretch>
            <a:fillRect/>
          </a:stretch>
        </p:blipFill>
        <p:spPr>
          <a:xfrm>
            <a:off x="1583319" y="1292917"/>
            <a:ext cx="1475427" cy="1475427"/>
          </a:xfrm>
          <a:prstGeom prst="ellipse">
            <a:avLst/>
          </a:prstGeom>
        </p:spPr>
      </p:pic>
      <p:cxnSp>
        <p:nvCxnSpPr>
          <p:cNvPr id="16" name="Connector 16"/>
          <p:cNvCxnSpPr/>
          <p:nvPr/>
        </p:nvCxnSpPr>
        <p:spPr>
          <a:xfrm>
            <a:off x="3058746" y="2030630"/>
            <a:ext cx="2299541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3_01_employer_siz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79830"/>
            <a:ext cx="9512935" cy="5284470"/>
          </a:xfrm>
          <a:prstGeom prst="rect">
            <a:avLst/>
          </a:prstGeom>
        </p:spPr>
      </p:pic>
      <p:sp>
        <p:nvSpPr>
          <p:cNvPr id="19" name="AutoShape 4"/>
          <p:cNvSpPr/>
          <p:nvPr>
            <p:custDataLst>
              <p:tags r:id="rId3"/>
            </p:custDataLst>
          </p:nvPr>
        </p:nvSpPr>
        <p:spPr>
          <a:xfrm>
            <a:off x="4130675" y="1995805"/>
            <a:ext cx="4552950" cy="2107565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900003" name="TextBox 3"/>
          <p:cNvSpPr txBox="1"/>
          <p:nvPr>
            <p:custDataLst>
              <p:tags r:id="rId4"/>
            </p:custDataLst>
          </p:nvPr>
        </p:nvSpPr>
        <p:spPr>
          <a:xfrm>
            <a:off x="4757420" y="1812925"/>
            <a:ext cx="3569335" cy="523240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雇主规模分布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04" name="TextBox 4"/>
          <p:cNvSpPr txBox="1"/>
          <p:nvPr>
            <p:custDataLst>
              <p:tags r:id="rId5"/>
            </p:custDataLst>
          </p:nvPr>
        </p:nvSpPr>
        <p:spPr>
          <a:xfrm>
            <a:off x="4757420" y="2435860"/>
            <a:ext cx="3569335" cy="95948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直方图显示所有雇主均为2-9人小微企业，均值5.2人。该分布与Q1中家庭规模直方图（图1.5）形成镜像，揭示经济单元与家庭单元的同构性。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0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</a:t>
            </a:r>
            <a:r>
              <a:rPr 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键图表（雇主规模）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10" name="AutoShape 10"/>
          <p:cNvSpPr/>
          <p:nvPr/>
        </p:nvSpPr>
        <p:spPr>
          <a:xfrm>
            <a:off x="9144095" y="2311241"/>
            <a:ext cx="41815" cy="41148"/>
          </a:xfrm>
          <a:prstGeom prst="ellipse">
            <a:avLst/>
          </a:prstGeom>
          <a:solidFill>
            <a:srgbClr val="E9E9E9">
              <a:alpha val="100000"/>
            </a:srgbClr>
          </a:solidFill>
        </p:spPr>
      </p:sp>
      <p:sp>
        <p:nvSpPr>
          <p:cNvPr id="18" name="文本框 17"/>
          <p:cNvSpPr txBox="1"/>
          <p:nvPr/>
        </p:nvSpPr>
        <p:spPr>
          <a:xfrm>
            <a:off x="6048375" y="613664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3.1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0003" grpId="0"/>
      <p:bldP spid="1900003" grpId="1"/>
      <p:bldP spid="1900004" grpId="0"/>
      <p:bldP spid="1900004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rt_q3_03_expense_p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179830"/>
            <a:ext cx="9648190" cy="5360035"/>
          </a:xfrm>
          <a:prstGeom prst="rect">
            <a:avLst/>
          </a:prstGeom>
        </p:spPr>
      </p:pic>
      <p:sp>
        <p:nvSpPr>
          <p:cNvPr id="1900003" name="TextBox 3"/>
          <p:cNvSpPr txBox="1"/>
          <p:nvPr>
            <p:custDataLst>
              <p:tags r:id="rId3"/>
            </p:custDataLst>
          </p:nvPr>
        </p:nvSpPr>
        <p:spPr>
          <a:xfrm>
            <a:off x="7601585" y="3001645"/>
            <a:ext cx="2490470" cy="523240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支出构成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04" name="TextBox 4"/>
          <p:cNvSpPr txBox="1"/>
          <p:nvPr>
            <p:custDataLst>
              <p:tags r:id="rId4"/>
            </p:custDataLst>
          </p:nvPr>
        </p:nvSpPr>
        <p:spPr>
          <a:xfrm>
            <a:off x="7601585" y="3624580"/>
            <a:ext cx="2490470" cy="95948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饼图显示住房（32%）、休闲（18%）和食品（16%）为三大支出项。休闲支出异常占比需结合Q2中38.2%的餐厅/酒吧签到量（图2.4）进行交叉解读。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0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关键图表（支出）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10" name="AutoShape 10"/>
          <p:cNvSpPr/>
          <p:nvPr/>
        </p:nvSpPr>
        <p:spPr>
          <a:xfrm>
            <a:off x="9144095" y="2311241"/>
            <a:ext cx="41815" cy="41148"/>
          </a:xfrm>
          <a:prstGeom prst="ellipse">
            <a:avLst/>
          </a:prstGeom>
          <a:solidFill>
            <a:srgbClr val="E9E9E9">
              <a:alpha val="100000"/>
            </a:srgbClr>
          </a:solidFill>
        </p:spPr>
      </p:sp>
      <p:sp>
        <p:nvSpPr>
          <p:cNvPr id="18" name="文本框 17"/>
          <p:cNvSpPr txBox="1"/>
          <p:nvPr/>
        </p:nvSpPr>
        <p:spPr>
          <a:xfrm>
            <a:off x="6048375" y="613664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3.3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0003" grpId="0"/>
      <p:bldP spid="1900003" grpId="1"/>
      <p:bldP spid="1900004" grpId="0"/>
      <p:bldP spid="1900004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rt_q3_07_industry_p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" y="1179830"/>
            <a:ext cx="9674225" cy="5374640"/>
          </a:xfrm>
          <a:prstGeom prst="rect">
            <a:avLst/>
          </a:prstGeom>
        </p:spPr>
      </p:pic>
      <p:sp>
        <p:nvSpPr>
          <p:cNvPr id="1900003" name="TextBox 3"/>
          <p:cNvSpPr txBox="1"/>
          <p:nvPr>
            <p:custDataLst>
              <p:tags r:id="rId3"/>
            </p:custDataLst>
          </p:nvPr>
        </p:nvSpPr>
        <p:spPr>
          <a:xfrm>
            <a:off x="7435215" y="3037205"/>
            <a:ext cx="2836545" cy="523240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行业分类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04" name="TextBox 4"/>
          <p:cNvSpPr txBox="1"/>
          <p:nvPr>
            <p:custDataLst>
              <p:tags r:id="rId4"/>
            </p:custDataLst>
          </p:nvPr>
        </p:nvSpPr>
        <p:spPr>
          <a:xfrm>
            <a:off x="7435215" y="3660140"/>
            <a:ext cx="2836545" cy="95948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仅28家雇主可识别行业，其中17家为餐饮服务。225家未分类商业体占比89%，通过灰色区块视觉强化经济结构的模糊性特征。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0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关键图表（行业）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00010" name="AutoShape 10"/>
          <p:cNvSpPr/>
          <p:nvPr/>
        </p:nvSpPr>
        <p:spPr>
          <a:xfrm>
            <a:off x="9144095" y="2311241"/>
            <a:ext cx="41815" cy="41148"/>
          </a:xfrm>
          <a:prstGeom prst="ellipse">
            <a:avLst/>
          </a:prstGeom>
          <a:solidFill>
            <a:srgbClr val="E9E9E9">
              <a:alpha val="100000"/>
            </a:srgbClr>
          </a:solidFill>
        </p:spPr>
      </p:sp>
      <p:sp>
        <p:nvSpPr>
          <p:cNvPr id="18" name="文本框 17"/>
          <p:cNvSpPr txBox="1"/>
          <p:nvPr/>
        </p:nvSpPr>
        <p:spPr>
          <a:xfrm>
            <a:off x="6048375" y="613664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3.7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0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0003" grpId="0"/>
      <p:bldP spid="1900003" grpId="1"/>
      <p:bldP spid="1900004" grpId="0"/>
      <p:bldP spid="190000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6675" r="16675"/>
          <a:stretch>
            <a:fillRect/>
          </a:stretch>
        </p:blipFill>
        <p:spPr>
          <a:xfrm>
            <a:off x="4462463" y="2088071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3" name="TextBox 3"/>
          <p:cNvSpPr txBox="1"/>
          <p:nvPr/>
        </p:nvSpPr>
        <p:spPr>
          <a:xfrm>
            <a:off x="742971" y="2306715"/>
            <a:ext cx="3314231" cy="64799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韧性风险悖论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059848" y="1716027"/>
            <a:ext cx="3794740" cy="196811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休闲支出与工资周期高度同步（图3.9），反映经济对居民消费信心的脆弱依赖。建议培育1-2个锚点企业，在保持分散优势的同时建立结构性支撑。</a:t>
            </a:r>
            <a:endParaRPr lang="en-US" sz="18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59848" y="1097369"/>
            <a:ext cx="3314231" cy="62295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消费驱动隐患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059848" y="4019931"/>
            <a:ext cx="3314231" cy="547835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空间资源配置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59848" y="4565142"/>
            <a:ext cx="3794740" cy="1995832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512栋商业建筑远超253家雇主的需求，空置率为49%。这种超前配置既为增长预留空间，也提示需优化商业用地政策以避免资源错配。</a:t>
            </a:r>
            <a:endParaRPr lang="en-US" sz="18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01071" y="2954711"/>
            <a:ext cx="3656131" cy="211596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indent="457200" algn="l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小微企业分散化赋予经济抗风险能力，但缺乏产业纵深导致创新困境。工资天花板效应（最高$40.86/时）可能引发高技能人才外流，需通过职业技能培训打破低水平均衡。</a:t>
            </a:r>
            <a:endParaRPr lang="en-US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深层洞察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TextBox 2"/>
          <p:cNvSpPr txBox="1"/>
          <p:nvPr/>
        </p:nvSpPr>
        <p:spPr>
          <a:xfrm>
            <a:off x="3027971" y="2067616"/>
            <a:ext cx="6547539" cy="142510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Q4 </a:t>
            </a:r>
            <a:r>
              <a:rPr lang="zh-CN" altLang="en-US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综合概览</a:t>
            </a:r>
            <a:endParaRPr lang="zh-CN" altLang="en-US" sz="7200" b="1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900028" name="TextBox 3"/>
          <p:cNvSpPr txBox="1"/>
          <p:nvPr/>
        </p:nvSpPr>
        <p:spPr>
          <a:xfrm>
            <a:off x="1406208" y="382905"/>
            <a:ext cx="2465705" cy="16846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7500"/>
          </a:bodyPr>
          <a:lstStyle/>
          <a:p>
            <a:pPr algn="ctr">
              <a:lnSpc>
                <a:spcPct val="80000"/>
              </a:lnSpc>
            </a:pPr>
            <a:r>
              <a:rPr lang="en-US" sz="10200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05</a:t>
            </a:r>
            <a:endParaRPr lang="en-US" sz="1020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002" name="AutoShape 2"/>
          <p:cNvSpPr/>
          <p:nvPr>
            <p:custDataLst>
              <p:tags r:id="rId2"/>
            </p:custDataLst>
          </p:nvPr>
        </p:nvSpPr>
        <p:spPr>
          <a:xfrm>
            <a:off x="614971" y="1894865"/>
            <a:ext cx="2736832" cy="4238409"/>
          </a:xfrm>
          <a:prstGeom prst="roundRect">
            <a:avLst>
              <a:gd name="adj" fmla="val 5515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2200003" name="TextBox 3"/>
          <p:cNvSpPr txBox="1"/>
          <p:nvPr>
            <p:custDataLst>
              <p:tags r:id="rId3"/>
            </p:custDataLst>
          </p:nvPr>
        </p:nvSpPr>
        <p:spPr>
          <a:xfrm>
            <a:off x="816749" y="3133654"/>
            <a:ext cx="2286284" cy="2996231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EngageTown 人口平均年龄39.1岁，30-44岁年龄段占比最高，呈现劳动导向型社区特征。小型家庭结构（户均2.0人）与小微企业经济模式形成呼应。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04" name="AutoShape 4"/>
          <p:cNvSpPr/>
          <p:nvPr>
            <p:custDataLst>
              <p:tags r:id="rId4"/>
            </p:custDataLst>
          </p:nvPr>
        </p:nvSpPr>
        <p:spPr>
          <a:xfrm>
            <a:off x="3471408" y="1902340"/>
            <a:ext cx="2736832" cy="4238409"/>
          </a:xfrm>
          <a:prstGeom prst="roundRect">
            <a:avLst>
              <a:gd name="adj" fmla="val 5515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2200005" name="AutoShape 5"/>
          <p:cNvSpPr/>
          <p:nvPr>
            <p:custDataLst>
              <p:tags r:id="rId5"/>
            </p:custDataLst>
          </p:nvPr>
        </p:nvSpPr>
        <p:spPr>
          <a:xfrm>
            <a:off x="6319687" y="1902340"/>
            <a:ext cx="2736832" cy="4238409"/>
          </a:xfrm>
          <a:prstGeom prst="roundRect">
            <a:avLst>
              <a:gd name="adj" fmla="val 5515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2200006" name="AutoShape 6"/>
          <p:cNvSpPr/>
          <p:nvPr>
            <p:custDataLst>
              <p:tags r:id="rId6"/>
            </p:custDataLst>
          </p:nvPr>
        </p:nvSpPr>
        <p:spPr>
          <a:xfrm>
            <a:off x="9195857" y="1902340"/>
            <a:ext cx="2736832" cy="4238409"/>
          </a:xfrm>
          <a:prstGeom prst="roundRect">
            <a:avLst>
              <a:gd name="adj" fmla="val 5515"/>
            </a:avLst>
          </a:prstGeom>
          <a:solidFill>
            <a:schemeClr val="lt2">
              <a:alpha val="80000"/>
            </a:schemeClr>
          </a:solidFill>
        </p:spPr>
      </p:sp>
      <p:grpSp>
        <p:nvGrpSpPr>
          <p:cNvPr id="2200007" name="Group 7"/>
          <p:cNvGrpSpPr/>
          <p:nvPr>
            <p:custDataLst>
              <p:tags r:id="rId7"/>
            </p:custDataLst>
          </p:nvPr>
        </p:nvGrpSpPr>
        <p:grpSpPr>
          <a:xfrm>
            <a:off x="365379" y="1680210"/>
            <a:ext cx="1167479" cy="720090"/>
            <a:chOff x="365379" y="1680210"/>
            <a:chExt cx="1167479" cy="720090"/>
          </a:xfrm>
        </p:grpSpPr>
        <p:sp>
          <p:nvSpPr>
            <p:cNvPr id="2200008" name="AutoShape 8"/>
            <p:cNvSpPr/>
            <p:nvPr>
              <p:custDataLst>
                <p:tags r:id="rId8"/>
              </p:custDataLst>
            </p:nvPr>
          </p:nvSpPr>
          <p:spPr>
            <a:xfrm>
              <a:off x="595694" y="1686878"/>
              <a:ext cx="706755" cy="706755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200009" name="TextBox 9"/>
            <p:cNvSpPr txBox="1"/>
            <p:nvPr>
              <p:custDataLst>
                <p:tags r:id="rId9"/>
              </p:custDataLst>
            </p:nvPr>
          </p:nvSpPr>
          <p:spPr>
            <a:xfrm>
              <a:off x="365379" y="1680210"/>
              <a:ext cx="1167479" cy="720090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400" b="1">
                  <a:solidFill>
                    <a:srgbClr val="FFFDFD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01</a:t>
              </a:r>
              <a:endParaRPr lang="en-US" sz="2400" b="1">
                <a:solidFill>
                  <a:srgbClr val="FFFDFD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2200010" name="Group 10"/>
          <p:cNvGrpSpPr/>
          <p:nvPr>
            <p:custDataLst>
              <p:tags r:id="rId10"/>
            </p:custDataLst>
          </p:nvPr>
        </p:nvGrpSpPr>
        <p:grpSpPr>
          <a:xfrm>
            <a:off x="9023509" y="1709452"/>
            <a:ext cx="1167479" cy="720090"/>
            <a:chOff x="9023509" y="1709452"/>
            <a:chExt cx="1167479" cy="720090"/>
          </a:xfrm>
        </p:grpSpPr>
        <p:sp>
          <p:nvSpPr>
            <p:cNvPr id="2200011" name="AutoShape 11"/>
            <p:cNvSpPr/>
            <p:nvPr>
              <p:custDataLst>
                <p:tags r:id="rId11"/>
              </p:custDataLst>
            </p:nvPr>
          </p:nvSpPr>
          <p:spPr>
            <a:xfrm>
              <a:off x="9253918" y="1716119"/>
              <a:ext cx="706755" cy="706755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200012" name="TextBox 12"/>
            <p:cNvSpPr txBox="1"/>
            <p:nvPr>
              <p:custDataLst>
                <p:tags r:id="rId12"/>
              </p:custDataLst>
            </p:nvPr>
          </p:nvSpPr>
          <p:spPr>
            <a:xfrm>
              <a:off x="9023509" y="1709452"/>
              <a:ext cx="1167479" cy="720090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400" b="1">
                  <a:solidFill>
                    <a:srgbClr val="FFFDFD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04</a:t>
              </a:r>
              <a:endParaRPr lang="en-US" sz="2400" b="1">
                <a:solidFill>
                  <a:srgbClr val="FFFDFD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2200013" name="Group 13"/>
          <p:cNvGrpSpPr/>
          <p:nvPr>
            <p:custDataLst>
              <p:tags r:id="rId13"/>
            </p:custDataLst>
          </p:nvPr>
        </p:nvGrpSpPr>
        <p:grpSpPr>
          <a:xfrm>
            <a:off x="6137434" y="1738693"/>
            <a:ext cx="1167479" cy="720090"/>
            <a:chOff x="6137434" y="1738693"/>
            <a:chExt cx="1167479" cy="720090"/>
          </a:xfrm>
        </p:grpSpPr>
        <p:sp>
          <p:nvSpPr>
            <p:cNvPr id="2200014" name="AutoShape 14"/>
            <p:cNvSpPr/>
            <p:nvPr>
              <p:custDataLst>
                <p:tags r:id="rId14"/>
              </p:custDataLst>
            </p:nvPr>
          </p:nvSpPr>
          <p:spPr>
            <a:xfrm>
              <a:off x="6367843" y="1745361"/>
              <a:ext cx="706755" cy="706755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200015" name="TextBox 15"/>
            <p:cNvSpPr txBox="1"/>
            <p:nvPr>
              <p:custDataLst>
                <p:tags r:id="rId15"/>
              </p:custDataLst>
            </p:nvPr>
          </p:nvSpPr>
          <p:spPr>
            <a:xfrm>
              <a:off x="6137434" y="1738693"/>
              <a:ext cx="1167479" cy="720090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400" b="1">
                  <a:solidFill>
                    <a:srgbClr val="FFFDFD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03</a:t>
              </a:r>
              <a:endParaRPr lang="en-US" sz="2400" b="1">
                <a:solidFill>
                  <a:srgbClr val="FFFDFD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2200016" name="Group 16"/>
          <p:cNvGrpSpPr/>
          <p:nvPr>
            <p:custDataLst>
              <p:tags r:id="rId16"/>
            </p:custDataLst>
          </p:nvPr>
        </p:nvGrpSpPr>
        <p:grpSpPr>
          <a:xfrm>
            <a:off x="3251454" y="1709452"/>
            <a:ext cx="1167479" cy="720090"/>
            <a:chOff x="3251454" y="1709452"/>
            <a:chExt cx="1167479" cy="720090"/>
          </a:xfrm>
        </p:grpSpPr>
        <p:sp>
          <p:nvSpPr>
            <p:cNvPr id="2200017" name="AutoShape 17"/>
            <p:cNvSpPr/>
            <p:nvPr>
              <p:custDataLst>
                <p:tags r:id="rId17"/>
              </p:custDataLst>
            </p:nvPr>
          </p:nvSpPr>
          <p:spPr>
            <a:xfrm>
              <a:off x="3481769" y="1716119"/>
              <a:ext cx="706755" cy="706755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200018" name="TextBox 18"/>
            <p:cNvSpPr txBox="1"/>
            <p:nvPr>
              <p:custDataLst>
                <p:tags r:id="rId18"/>
              </p:custDataLst>
            </p:nvPr>
          </p:nvSpPr>
          <p:spPr>
            <a:xfrm>
              <a:off x="3251454" y="1709452"/>
              <a:ext cx="1167479" cy="720090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400" b="1">
                  <a:solidFill>
                    <a:srgbClr val="FFFDFD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02</a:t>
              </a:r>
              <a:endParaRPr lang="en-US" sz="2400" b="1">
                <a:solidFill>
                  <a:srgbClr val="FFFDFD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sp>
        <p:nvSpPr>
          <p:cNvPr id="2200019" name="TextBox 1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信息总览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20" name="TextBox 20"/>
          <p:cNvSpPr txBox="1"/>
          <p:nvPr>
            <p:custDataLst>
              <p:tags r:id="rId19"/>
            </p:custDataLst>
          </p:nvPr>
        </p:nvSpPr>
        <p:spPr>
          <a:xfrm>
            <a:off x="840244" y="2344879"/>
            <a:ext cx="2286284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人口特征概览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见图</a:t>
            </a:r>
            <a:r>
              <a:rPr lang="en-US" altLang="zh-CN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1.1-</a:t>
            </a:r>
            <a:r>
              <a:rPr lang="zh-CN" altLang="en-US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1.9</a:t>
            </a:r>
            <a:endParaRPr lang="zh-CN" altLang="en-US" sz="12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21" name="TextBox 21"/>
          <p:cNvSpPr txBox="1"/>
          <p:nvPr>
            <p:custDataLst>
              <p:tags r:id="rId20"/>
            </p:custDataLst>
          </p:nvPr>
        </p:nvSpPr>
        <p:spPr>
          <a:xfrm>
            <a:off x="3662295" y="3129917"/>
            <a:ext cx="2286284" cy="300370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社交网络包含80,483条互动关系，形成28个强社区结构（模块度0.5194）。居民社交活动呈现明显昼夜节律，周末休闲活动占比显著提升至9%。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22" name="TextBox 22"/>
          <p:cNvSpPr txBox="1"/>
          <p:nvPr>
            <p:custDataLst>
              <p:tags r:id="rId21"/>
            </p:custDataLst>
          </p:nvPr>
        </p:nvSpPr>
        <p:spPr>
          <a:xfrm>
            <a:off x="3692775" y="2459034"/>
            <a:ext cx="2286284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社交网络结构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altLang="zh-CN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见图2.1-图2.10</a:t>
            </a:r>
            <a:endParaRPr lang="en-US" altLang="zh-CN" sz="12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0000"/>
              </a:lnSpc>
            </a:pP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23" name="TextBox 23"/>
          <p:cNvSpPr txBox="1"/>
          <p:nvPr>
            <p:custDataLst>
              <p:tags r:id="rId22"/>
            </p:custDataLst>
          </p:nvPr>
        </p:nvSpPr>
        <p:spPr>
          <a:xfrm>
            <a:off x="6558882" y="3129917"/>
            <a:ext cx="2286284" cy="300370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253家小微企业构成经济主体，平均雇员5.2人。休闲支出（$4.97M）与食品支出（$4.56M）基本持平，反映社区对社交活动的高度重视。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24" name="TextBox 24"/>
          <p:cNvSpPr txBox="1"/>
          <p:nvPr>
            <p:custDataLst>
              <p:tags r:id="rId23"/>
            </p:custDataLst>
          </p:nvPr>
        </p:nvSpPr>
        <p:spPr>
          <a:xfrm>
            <a:off x="6582377" y="2352354"/>
            <a:ext cx="2286284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经济基础分析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见图3.1-图3.8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0000"/>
              </a:lnSpc>
            </a:pP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25" name="TextBox 25"/>
          <p:cNvSpPr txBox="1"/>
          <p:nvPr>
            <p:custDataLst>
              <p:tags r:id="rId24"/>
            </p:custDataLst>
          </p:nvPr>
        </p:nvSpPr>
        <p:spPr>
          <a:xfrm>
            <a:off x="9396953" y="3129917"/>
            <a:ext cx="2286284" cy="300370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512栋商业建筑与526栋住宅保持1:1平衡，12家酒吧和20家餐厅形成多个社交集聚区，支撑了模块化社交网络的空间基础。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00026" name="TextBox 26"/>
          <p:cNvSpPr txBox="1"/>
          <p:nvPr>
            <p:custDataLst>
              <p:tags r:id="rId25"/>
            </p:custDataLst>
          </p:nvPr>
        </p:nvSpPr>
        <p:spPr>
          <a:xfrm>
            <a:off x="9420448" y="2352354"/>
            <a:ext cx="2286284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空间分布特征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见</a:t>
            </a:r>
            <a:r>
              <a:rPr lang="en-US" altLang="zh-CN" sz="1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图4.4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0000"/>
              </a:lnSpc>
            </a:pP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4_04_ma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4695" y="988695"/>
            <a:ext cx="10444480" cy="5801995"/>
          </a:xfrm>
          <a:prstGeom prst="rect">
            <a:avLst/>
          </a:prstGeom>
        </p:spPr>
      </p:pic>
      <p:sp>
        <p:nvSpPr>
          <p:cNvPr id="2300002" name="AutoShape 2"/>
          <p:cNvSpPr/>
          <p:nvPr>
            <p:custDataLst>
              <p:tags r:id="rId4"/>
            </p:custDataLst>
          </p:nvPr>
        </p:nvSpPr>
        <p:spPr>
          <a:xfrm>
            <a:off x="7841854" y="1285519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spcBef>
                <a:spcPts val="270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商业设施分布</a:t>
            </a:r>
            <a:endParaRPr lang="en-US" sz="1100"/>
          </a:p>
        </p:txBody>
      </p:sp>
      <p:sp>
        <p:nvSpPr>
          <p:cNvPr id="2300004" name="TextBox 4"/>
          <p:cNvSpPr txBox="1"/>
          <p:nvPr>
            <p:custDataLst>
              <p:tags r:id="rId5"/>
            </p:custDataLst>
          </p:nvPr>
        </p:nvSpPr>
        <p:spPr>
          <a:xfrm>
            <a:off x="7660005" y="1763395"/>
            <a:ext cx="2913380" cy="14376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12家酒吧（红色标识）和20家餐厅（绿色标识）在中心区域形成3个主要集聚区，与Louvain社区检测结果的空间分布高度吻合。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00006" name="TextBox 6"/>
          <p:cNvSpPr txBox="1"/>
          <p:nvPr/>
        </p:nvSpPr>
        <p:spPr>
          <a:xfrm>
            <a:off x="476250" y="265430"/>
            <a:ext cx="3076575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场所地图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00007" name="AutoShape 7"/>
          <p:cNvSpPr/>
          <p:nvPr>
            <p:custDataLst>
              <p:tags r:id="rId6"/>
            </p:custDataLst>
          </p:nvPr>
        </p:nvSpPr>
        <p:spPr>
          <a:xfrm>
            <a:off x="1199754" y="4335778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spcBef>
                <a:spcPts val="270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职住平衡特征</a:t>
            </a:r>
            <a:endParaRPr lang="en-US" sz="1100"/>
          </a:p>
        </p:txBody>
      </p:sp>
      <p:sp>
        <p:nvSpPr>
          <p:cNvPr id="2300008" name="TextBox 8"/>
          <p:cNvSpPr txBox="1"/>
          <p:nvPr>
            <p:custDataLst>
              <p:tags r:id="rId7"/>
            </p:custDataLst>
          </p:nvPr>
        </p:nvSpPr>
        <p:spPr>
          <a:xfrm>
            <a:off x="1266825" y="4926330"/>
            <a:ext cx="2887345" cy="14224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商业建筑与住宅建筑交错分布，51%的商业建筑集中在社区中心1公里范围内，支持了出行数据中"职住接近"的发现。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48375" y="634873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4.4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0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00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0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00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00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00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00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0002" grpId="0"/>
      <p:bldP spid="2300002" grpId="1"/>
      <p:bldP spid="2300004" grpId="0"/>
      <p:bldP spid="2300004" grpId="1"/>
      <p:bldP spid="2300007" grpId="0"/>
      <p:bldP spid="2300007" grpId="1"/>
      <p:bldP spid="2300008" grpId="0"/>
      <p:bldP spid="2300008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rt_q4_04_ma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4695" y="988695"/>
            <a:ext cx="10444480" cy="5801995"/>
          </a:xfrm>
          <a:prstGeom prst="rect">
            <a:avLst/>
          </a:prstGeom>
        </p:spPr>
      </p:pic>
      <p:sp>
        <p:nvSpPr>
          <p:cNvPr id="2300002" name="AutoShape 2"/>
          <p:cNvSpPr/>
          <p:nvPr>
            <p:custDataLst>
              <p:tags r:id="rId4"/>
            </p:custDataLst>
          </p:nvPr>
        </p:nvSpPr>
        <p:spPr>
          <a:xfrm>
            <a:off x="7841854" y="1285519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公共服务布局</a:t>
            </a:r>
            <a:endParaRPr lang="en-US" sz="1100"/>
          </a:p>
        </p:txBody>
      </p:sp>
      <p:sp>
        <p:nvSpPr>
          <p:cNvPr id="2300004" name="TextBox 4"/>
          <p:cNvSpPr txBox="1"/>
          <p:nvPr>
            <p:custDataLst>
              <p:tags r:id="rId5"/>
            </p:custDataLst>
          </p:nvPr>
        </p:nvSpPr>
        <p:spPr>
          <a:xfrm>
            <a:off x="7660005" y="1763395"/>
            <a:ext cx="2913380" cy="14376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4所学校（蓝色标识）均匀分布在社区外围，服务半径覆盖全部居住区，与住宅区的空间关系体现"15分钟生活圈"规划理念。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00006" name="TextBox 6"/>
          <p:cNvSpPr txBox="1"/>
          <p:nvPr/>
        </p:nvSpPr>
        <p:spPr>
          <a:xfrm>
            <a:off x="476250" y="265430"/>
            <a:ext cx="3076575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场所地图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00007" name="AutoShape 7"/>
          <p:cNvSpPr/>
          <p:nvPr>
            <p:custDataLst>
              <p:tags r:id="rId6"/>
            </p:custDataLst>
          </p:nvPr>
        </p:nvSpPr>
        <p:spPr>
          <a:xfrm>
            <a:off x="1199754" y="4335778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社交热点识别</a:t>
            </a:r>
            <a:endParaRPr lang="en-US" sz="1100"/>
          </a:p>
        </p:txBody>
      </p:sp>
      <p:sp>
        <p:nvSpPr>
          <p:cNvPr id="2300008" name="TextBox 8"/>
          <p:cNvSpPr txBox="1"/>
          <p:nvPr>
            <p:custDataLst>
              <p:tags r:id="rId7"/>
            </p:custDataLst>
          </p:nvPr>
        </p:nvSpPr>
        <p:spPr>
          <a:xfrm>
            <a:off x="1266825" y="4926330"/>
            <a:ext cx="2887345" cy="14224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餐厅/酒吧签到量占比达38.2%，其空间集聚模式与社交网络中的"桥接个体"居住地存在显著空间相关性，印证餐饮场所的社交枢纽作用。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48375" y="6348730"/>
            <a:ext cx="2216785" cy="32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7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</a:t>
            </a: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4.4</a:t>
            </a:r>
            <a:endParaRPr lang="en-US" altLang="zh-CN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0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00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0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00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00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00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00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0002" grpId="0"/>
      <p:bldP spid="2300002" grpId="1"/>
      <p:bldP spid="2300004" grpId="0"/>
      <p:bldP spid="2300004" grpId="1"/>
      <p:bldP spid="2300007" grpId="0"/>
      <p:bldP spid="2300007" grpId="1"/>
      <p:bldP spid="2300008" grpId="0"/>
      <p:bldP spid="2300008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TextBox 2"/>
          <p:cNvSpPr txBox="1"/>
          <p:nvPr/>
        </p:nvSpPr>
        <p:spPr>
          <a:xfrm>
            <a:off x="3027971" y="2067616"/>
            <a:ext cx="6547539" cy="142510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总结与建议</a:t>
            </a:r>
            <a:endParaRPr lang="zh-CN" altLang="en-US" sz="7200" b="1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900028" name="TextBox 3"/>
          <p:cNvSpPr txBox="1"/>
          <p:nvPr/>
        </p:nvSpPr>
        <p:spPr>
          <a:xfrm>
            <a:off x="1406208" y="382905"/>
            <a:ext cx="2465705" cy="16846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7500"/>
          </a:bodyPr>
          <a:lstStyle/>
          <a:p>
            <a:pPr algn="ctr">
              <a:lnSpc>
                <a:spcPct val="80000"/>
              </a:lnSpc>
            </a:pPr>
            <a:r>
              <a:rPr lang="en-US" sz="10200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06</a:t>
            </a:r>
            <a:endParaRPr lang="en-US" sz="1020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89139" y="4907596"/>
            <a:ext cx="8609341" cy="147826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965148" y="3145225"/>
            <a:ext cx="8609341" cy="147826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2493889" y="1358958"/>
            <a:ext cx="8609341" cy="147826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3283333" y="1796843"/>
            <a:ext cx="7497178" cy="9728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劳动年龄人口占比过高（72%集中在25-55岁），老年人口仅占4.2%，缺乏代际传承机制。这种结构依赖持续的外部人口迁入维持活力，一旦吸引力下降将导致社区萎缩。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4944" b="4944"/>
          <a:stretch>
            <a:fillRect/>
          </a:stretch>
        </p:blipFill>
        <p:spPr>
          <a:xfrm>
            <a:off x="1113196" y="1262384"/>
            <a:ext cx="1926336" cy="1682496"/>
          </a:xfrm>
          <a:prstGeom prst="hexagon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9106" r="9106"/>
          <a:stretch>
            <a:fillRect/>
          </a:stretch>
        </p:blipFill>
        <p:spPr>
          <a:xfrm>
            <a:off x="9176895" y="3043110"/>
            <a:ext cx="1926336" cy="1682496"/>
          </a:xfrm>
          <a:prstGeom prst="hexagon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l="19723" r="19723"/>
          <a:stretch>
            <a:fillRect/>
          </a:stretch>
        </p:blipFill>
        <p:spPr>
          <a:xfrm>
            <a:off x="1113196" y="4824531"/>
            <a:ext cx="1926336" cy="1682496"/>
          </a:xfrm>
          <a:prstGeom prst="hexagon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"小型均衡中的隐性脆弱"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73808" y="1404023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人口结构风险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30470" y="3566057"/>
            <a:ext cx="7497178" cy="9728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尽管表面上有253家小微企业，但89%无法归类为具体行业，实质是围绕居民日常消费的同质化服务经济。缺乏产业纵深使其易受消费信心波动影响。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20945" y="3173238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经济单一性隐患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325984" y="5352046"/>
            <a:ext cx="7497178" cy="9728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模块度高达0.5194的强社区结构，使信息流动依赖少数高介数中心性个体（前10名桥接者得分超均值3个数量级）。关键节点失效可能导致社区分裂。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316459" y="4959226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社交网络脆弱性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002" name="AutoShape 2"/>
          <p:cNvSpPr/>
          <p:nvPr/>
        </p:nvSpPr>
        <p:spPr>
          <a:xfrm>
            <a:off x="4952171" y="5001441"/>
            <a:ext cx="620077" cy="620077"/>
          </a:xfrm>
          <a:prstGeom prst="ellipse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00003" name="AutoShape 3"/>
          <p:cNvSpPr/>
          <p:nvPr/>
        </p:nvSpPr>
        <p:spPr>
          <a:xfrm>
            <a:off x="4952171" y="3360978"/>
            <a:ext cx="620077" cy="620077"/>
          </a:xfrm>
          <a:prstGeom prst="ellipse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00004" name="AutoShape 4"/>
          <p:cNvSpPr/>
          <p:nvPr/>
        </p:nvSpPr>
        <p:spPr>
          <a:xfrm>
            <a:off x="4952171" y="1709404"/>
            <a:ext cx="620077" cy="620077"/>
          </a:xfrm>
          <a:prstGeom prst="ellipse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</p:sp>
      <p:pic>
        <p:nvPicPr>
          <p:cNvPr id="2600005" name="Picture 5"/>
          <p:cNvPicPr>
            <a:picLocks noChangeAspect="1"/>
          </p:cNvPicPr>
          <p:nvPr/>
        </p:nvPicPr>
        <p:blipFill>
          <a:blip r:embed="rId2"/>
          <a:srcRect l="18159" r="18159"/>
          <a:stretch>
            <a:fillRect/>
          </a:stretch>
        </p:blipFill>
        <p:spPr>
          <a:xfrm>
            <a:off x="641457" y="1623215"/>
            <a:ext cx="3722789" cy="4384490"/>
          </a:xfrm>
          <a:prstGeom prst="rect">
            <a:avLst/>
          </a:prstGeom>
        </p:spPr>
      </p:pic>
      <p:sp>
        <p:nvSpPr>
          <p:cNvPr id="260000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三个结构性风险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07" name="TextBox 7"/>
          <p:cNvSpPr txBox="1"/>
          <p:nvPr/>
        </p:nvSpPr>
        <p:spPr>
          <a:xfrm>
            <a:off x="4856445" y="1778460"/>
            <a:ext cx="8115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08" name="TextBox 8"/>
          <p:cNvSpPr txBox="1"/>
          <p:nvPr/>
        </p:nvSpPr>
        <p:spPr>
          <a:xfrm>
            <a:off x="4856445" y="3430034"/>
            <a:ext cx="8115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09" name="TextBox 9"/>
          <p:cNvSpPr txBox="1"/>
          <p:nvPr/>
        </p:nvSpPr>
        <p:spPr>
          <a:xfrm>
            <a:off x="4856445" y="5070497"/>
            <a:ext cx="8115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10" name="TextBox 10"/>
          <p:cNvSpPr txBox="1"/>
          <p:nvPr/>
        </p:nvSpPr>
        <p:spPr>
          <a:xfrm>
            <a:off x="5763333" y="1472224"/>
            <a:ext cx="5737199" cy="490334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劳动力断层风险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11" name="TextBox 11"/>
          <p:cNvSpPr txBox="1"/>
          <p:nvPr/>
        </p:nvSpPr>
        <p:spPr>
          <a:xfrm>
            <a:off x="5763333" y="1898621"/>
            <a:ext cx="5737199" cy="102143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30-44岁核心劳动群体占比35%，但生育率仅30%，自然增长率趋零。需通过托育设施和家庭政策改善人口再生产。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12" name="TextBox 12"/>
          <p:cNvSpPr txBox="1"/>
          <p:nvPr/>
        </p:nvSpPr>
        <p:spPr>
          <a:xfrm>
            <a:off x="5763333" y="3147431"/>
            <a:ext cx="5737199" cy="490334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低技能陷阱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13" name="TextBox 13"/>
          <p:cNvSpPr txBox="1"/>
          <p:nvPr/>
        </p:nvSpPr>
        <p:spPr>
          <a:xfrm>
            <a:off x="5763333" y="3573828"/>
            <a:ext cx="5737199" cy="1106617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教育水平与收入呈刚性正相关（研究生学历者余额比低学历群体高217%），可能固化社会分层。需建立职业技能认证体系打破学历壁垒。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14" name="TextBox 14"/>
          <p:cNvSpPr txBox="1"/>
          <p:nvPr/>
        </p:nvSpPr>
        <p:spPr>
          <a:xfrm>
            <a:off x="5763333" y="4756646"/>
            <a:ext cx="5737199" cy="490334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经济天花板效应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00015" name="TextBox 15"/>
          <p:cNvSpPr txBox="1"/>
          <p:nvPr/>
        </p:nvSpPr>
        <p:spPr>
          <a:xfrm>
            <a:off x="5763333" y="5183044"/>
            <a:ext cx="5737199" cy="116781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小微企业主导的扁平工资结构（时薪$10.01-$40.86）缺乏上升通道，高技能人才留存率可能持续走低。应培育1-2家锚点企业提供职业发展阶梯。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7167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对规划者的建议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22297" b="22297"/>
          <a:stretch>
            <a:fillRect/>
          </a:stretch>
        </p:blipFill>
        <p:spPr>
          <a:xfrm>
            <a:off x="476023" y="4609099"/>
            <a:ext cx="5389250" cy="199019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0154" b="20154"/>
          <a:stretch>
            <a:fillRect/>
          </a:stretch>
        </p:blipFill>
        <p:spPr>
          <a:xfrm>
            <a:off x="6171055" y="4609099"/>
            <a:ext cx="5389250" cy="1990194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506217" y="2142337"/>
            <a:ext cx="3517339" cy="2234228"/>
          </a:xfrm>
          <a:prstGeom prst="roundRect">
            <a:avLst>
              <a:gd name="adj" fmla="val 7233"/>
            </a:avLst>
          </a:prstGeom>
          <a:solidFill>
            <a:schemeClr val="lt2">
              <a:alpha val="62000"/>
            </a:schemeClr>
          </a:solidFill>
        </p:spPr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768350" y="2355215"/>
            <a:ext cx="3166110" cy="180784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在现有512栋商业建筑中划定20%作为"创新孵化区"，通过税收优惠吸引技术型小微企业，逐步形成特色产业集群。</a:t>
            </a:r>
            <a:endParaRPr lang="en-US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4297692" y="2142337"/>
            <a:ext cx="3517339" cy="2234228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8067842" y="2142337"/>
            <a:ext cx="3517339" cy="2234228"/>
          </a:xfrm>
          <a:prstGeom prst="roundRect">
            <a:avLst>
              <a:gd name="adj" fmla="val 7233"/>
            </a:avLst>
          </a:prstGeom>
          <a:solidFill>
            <a:schemeClr val="lt2">
              <a:alpha val="62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506217" y="1429809"/>
            <a:ext cx="3517339" cy="469049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空间规划策略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297692" y="1429809"/>
            <a:ext cx="3517339" cy="469049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社会资本投资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8067842" y="1429809"/>
            <a:ext cx="3517339" cy="469049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韧性建设路径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1"/>
            </p:custDataLst>
          </p:nvPr>
        </p:nvSpPr>
        <p:spPr>
          <a:xfrm>
            <a:off x="4559984" y="2355513"/>
            <a:ext cx="2992755" cy="180787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以12家酒吧和20家餐厅为社交枢纽，设立跨兴趣组的"社区联络官"职位（优先聘用介数中心性前5%居民），强化模块间信息流动。</a:t>
            </a:r>
            <a:endParaRPr lang="en-US" sz="18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8330135" y="2355513"/>
            <a:ext cx="2992755" cy="180787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sz="18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未来5年将养老设施占比从0%提升至3%，同步开展代际互助计划（如青老年合租补贴），缓解人口结构风险。</a:t>
            </a:r>
            <a:endParaRPr lang="en-US" sz="18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47" b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TextBox 2"/>
          <p:cNvSpPr txBox="1"/>
          <p:nvPr/>
        </p:nvSpPr>
        <p:spPr>
          <a:xfrm>
            <a:off x="3027971" y="2067616"/>
            <a:ext cx="6547539" cy="142510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7200" b="1">
                <a:solidFill>
                  <a:srgbClr val="833814">
                    <a:alpha val="100000"/>
                  </a:srgbClr>
                </a:solidFill>
                <a:latin typeface="Noto Sans SC SemiBold"/>
                <a:ea typeface="Noto Sans SC SemiBold"/>
                <a:cs typeface="Noto Sans SC SemiBold"/>
              </a:rPr>
              <a:t>技术方法</a:t>
            </a:r>
            <a:endParaRPr lang="zh-CN" sz="7200" b="1">
              <a:solidFill>
                <a:srgbClr val="833814">
                  <a:alpha val="100000"/>
                </a:srgbClr>
              </a:solidFill>
              <a:latin typeface="Noto Sans SC SemiBold"/>
              <a:ea typeface="Noto Sans SC SemiBold"/>
              <a:cs typeface="Noto Sans SC SemiBold"/>
            </a:endParaRPr>
          </a:p>
        </p:txBody>
      </p:sp>
      <p:sp>
        <p:nvSpPr>
          <p:cNvPr id="900028" name="TextBox 3"/>
          <p:cNvSpPr txBox="1"/>
          <p:nvPr/>
        </p:nvSpPr>
        <p:spPr>
          <a:xfrm>
            <a:off x="1406208" y="382905"/>
            <a:ext cx="2465705" cy="16846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7500"/>
          </a:bodyPr>
          <a:lstStyle/>
          <a:p>
            <a:pPr algn="ctr">
              <a:lnSpc>
                <a:spcPct val="80000"/>
              </a:lnSpc>
            </a:pPr>
            <a:r>
              <a:rPr lang="en-US" sz="10200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07</a:t>
            </a:r>
            <a:endParaRPr lang="en-US" sz="10200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3438953" y="2671823"/>
            <a:ext cx="0" cy="2322414"/>
          </a:xfrm>
          <a:prstGeom prst="line">
            <a:avLst/>
          </a:prstGeom>
          <a:ln w="12700">
            <a:solidFill>
              <a:schemeClr val="accent6"/>
            </a:solidFill>
            <a:prstDash val="dash"/>
            <a:headEnd type="none"/>
            <a:tailEnd type="non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 flipV="1">
            <a:off x="1678406" y="1870072"/>
            <a:ext cx="2038565" cy="1681760"/>
          </a:xfrm>
          <a:prstGeom prst="line">
            <a:avLst/>
          </a:prstGeom>
          <a:ln w="254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>
            <a:off x="1678406" y="4020704"/>
            <a:ext cx="2038565" cy="1681760"/>
          </a:xfrm>
          <a:prstGeom prst="line">
            <a:avLst/>
          </a:prstGeom>
          <a:ln w="254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Connector 5"/>
          <p:cNvCxnSpPr/>
          <p:nvPr/>
        </p:nvCxnSpPr>
        <p:spPr>
          <a:xfrm>
            <a:off x="1678406" y="3765379"/>
            <a:ext cx="1760547" cy="0"/>
          </a:xfrm>
          <a:prstGeom prst="line">
            <a:avLst/>
          </a:prstGeom>
          <a:ln w="254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Freeform 6"/>
          <p:cNvSpPr/>
          <p:nvPr/>
        </p:nvSpPr>
        <p:spPr>
          <a:xfrm>
            <a:off x="484725" y="2857448"/>
            <a:ext cx="1815862" cy="1815862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2824685" y="1630160"/>
            <a:ext cx="1221146" cy="122114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2915411" y="2044352"/>
            <a:ext cx="1039692" cy="4338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824685" y="3160933"/>
            <a:ext cx="1221146" cy="122114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2915411" y="3575125"/>
            <a:ext cx="1039692" cy="4112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824685" y="4684388"/>
            <a:ext cx="1221146" cy="122114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2915411" y="5126716"/>
            <a:ext cx="1039692" cy="4495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Munzner 模型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127812" y="3500535"/>
            <a:ext cx="529689" cy="52968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5" name="TextBox 15"/>
          <p:cNvSpPr txBox="1"/>
          <p:nvPr/>
        </p:nvSpPr>
        <p:spPr>
          <a:xfrm>
            <a:off x="4249868" y="1478046"/>
            <a:ext cx="4078642" cy="538873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模型框架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249868" y="1911288"/>
            <a:ext cx="7595814" cy="104041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采用Munzner提出的四层嵌套模型进行可视化设计，从领域问题定义到视觉编码实现，确保分析逻辑与可视化表达的一致性。该模型强调从抽象任务到具体视觉元素的逐层转化，适用于复杂数据分析场景。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249868" y="3032167"/>
            <a:ext cx="4078642" cy="538873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领域适配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49868" y="3465409"/>
            <a:ext cx="7595814" cy="104041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针对EngageTown人口特征分析，将领域问题抽象为单变量分布和双变量比较任务。通过直方图、条形图等编码方式，有效呈现年龄、教育水平等关键维度的统计特征。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249868" y="4535536"/>
            <a:ext cx="4078642" cy="538873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验证机制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249868" y="4968778"/>
            <a:ext cx="7595814" cy="104041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模型包含从视觉映射到领域解释的反向验证路径，确保图表能准确反映数据特征。例如通过参考线标注均值/中位数，增强分布形态的可解释性。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0002" name="Picture 2"/>
          <p:cNvPicPr>
            <a:picLocks noChangeAspect="1"/>
          </p:cNvPicPr>
          <p:nvPr/>
        </p:nvPicPr>
        <p:blipFill>
          <a:blip r:embed="rId2"/>
          <a:srcRect l="10110" r="10110"/>
          <a:stretch>
            <a:fillRect/>
          </a:stretch>
        </p:blipFill>
        <p:spPr>
          <a:xfrm>
            <a:off x="667419" y="1817761"/>
            <a:ext cx="4563024" cy="4180009"/>
          </a:xfrm>
          <a:prstGeom prst="hexagon">
            <a:avLst/>
          </a:prstGeom>
        </p:spPr>
      </p:pic>
      <p:sp>
        <p:nvSpPr>
          <p:cNvPr id="3000003" name="TextBox 3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分析工具链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00004" name="TextBox 4"/>
          <p:cNvSpPr txBox="1"/>
          <p:nvPr/>
        </p:nvSpPr>
        <p:spPr>
          <a:xfrm>
            <a:off x="5725621" y="1323135"/>
            <a:ext cx="5687135" cy="470535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核心组件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00005" name="TextBox 5"/>
          <p:cNvSpPr txBox="1"/>
          <p:nvPr/>
        </p:nvSpPr>
        <p:spPr>
          <a:xfrm>
            <a:off x="5725621" y="1736520"/>
            <a:ext cx="5687135" cy="114605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基于Python构建分析流水线，使用Pandas进行数据清洗，NetworkX处理社交网络，Plotly生成交互式可视化。工具链覆盖从数据预处理到洞察呈现的全流程。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00006" name="TextBox 6"/>
          <p:cNvSpPr txBox="1"/>
          <p:nvPr/>
        </p:nvSpPr>
        <p:spPr>
          <a:xfrm>
            <a:off x="5725621" y="2999338"/>
            <a:ext cx="5687135" cy="48431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技术整合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00007" name="TextBox 7"/>
          <p:cNvSpPr txBox="1"/>
          <p:nvPr/>
        </p:nvSpPr>
        <p:spPr>
          <a:xfrm>
            <a:off x="5725621" y="3426504"/>
            <a:ext cx="5732727" cy="114416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通过Streamlit搭建交互式仪表盘，整合统计分析、网络计算和可视化模块。支持用户动态探索不同维度的关联模式，如教育水平与经济状况的交互关系。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00008" name="TextBox 8"/>
          <p:cNvSpPr txBox="1"/>
          <p:nvPr/>
        </p:nvSpPr>
        <p:spPr>
          <a:xfrm>
            <a:off x="5725621" y="4565914"/>
            <a:ext cx="5687135" cy="529052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效能优化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00009" name="TextBox 9"/>
          <p:cNvSpPr txBox="1"/>
          <p:nvPr/>
        </p:nvSpPr>
        <p:spPr>
          <a:xfrm>
            <a:off x="5725621" y="5047341"/>
            <a:ext cx="5732727" cy="117124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采用fastparquet加速大数据读取，Kaleido实现图表静态导出。工具组合在保证分析深度的同时，将计算耗时控制在120小时内完成全部分析任务。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0002" name="Picture 2"/>
          <p:cNvPicPr>
            <a:picLocks noChangeAspect="1"/>
          </p:cNvPicPr>
          <p:nvPr/>
        </p:nvPicPr>
        <p:blipFill>
          <a:blip r:embed="rId2"/>
          <a:srcRect t="4606" b="4606"/>
          <a:stretch>
            <a:fillRect/>
          </a:stretch>
        </p:blipFill>
        <p:spPr>
          <a:xfrm>
            <a:off x="8449231" y="3565204"/>
            <a:ext cx="3050440" cy="2453000"/>
          </a:xfrm>
          <a:prstGeom prst="roundRect">
            <a:avLst/>
          </a:prstGeom>
        </p:spPr>
      </p:pic>
      <p:sp>
        <p:nvSpPr>
          <p:cNvPr id="3300003" name="AutoShape 3"/>
          <p:cNvSpPr/>
          <p:nvPr/>
        </p:nvSpPr>
        <p:spPr>
          <a:xfrm>
            <a:off x="8449231" y="1792951"/>
            <a:ext cx="3050857" cy="2406213"/>
          </a:xfrm>
          <a:prstGeom prst="roundRect">
            <a:avLst>
              <a:gd name="adj" fmla="val 10215"/>
            </a:avLst>
          </a:prstGeom>
          <a:solidFill>
            <a:srgbClr val="FFFFFF">
              <a:alpha val="100000"/>
            </a:srgbClr>
          </a:solidFill>
          <a:effectLst>
            <a:outerShdw blurRad="457200">
              <a:srgbClr val="000000">
                <a:alpha val="8000"/>
              </a:srgbClr>
            </a:outerShdw>
          </a:effectLst>
        </p:spPr>
      </p:sp>
      <p:pic>
        <p:nvPicPr>
          <p:cNvPr id="3300004" name="Picture 4"/>
          <p:cNvPicPr>
            <a:picLocks noChangeAspect="1"/>
          </p:cNvPicPr>
          <p:nvPr/>
        </p:nvPicPr>
        <p:blipFill>
          <a:blip r:embed="rId3"/>
          <a:srcRect l="2967" r="2967"/>
          <a:stretch>
            <a:fillRect/>
          </a:stretch>
        </p:blipFill>
        <p:spPr>
          <a:xfrm>
            <a:off x="4549001" y="3532049"/>
            <a:ext cx="3050440" cy="2476500"/>
          </a:xfrm>
          <a:prstGeom prst="roundRect">
            <a:avLst/>
          </a:prstGeom>
        </p:spPr>
      </p:pic>
      <p:sp>
        <p:nvSpPr>
          <p:cNvPr id="3300005" name="AutoShape 5"/>
          <p:cNvSpPr/>
          <p:nvPr/>
        </p:nvSpPr>
        <p:spPr>
          <a:xfrm>
            <a:off x="4549001" y="1728950"/>
            <a:ext cx="3050857" cy="2406213"/>
          </a:xfrm>
          <a:prstGeom prst="roundRect">
            <a:avLst>
              <a:gd name="adj" fmla="val 10215"/>
            </a:avLst>
          </a:prstGeom>
          <a:solidFill>
            <a:srgbClr val="FFFFFF">
              <a:alpha val="100000"/>
            </a:srgbClr>
          </a:solidFill>
          <a:effectLst>
            <a:outerShdw blurRad="457200">
              <a:srgbClr val="000000">
                <a:alpha val="8000"/>
              </a:srgbClr>
            </a:outerShdw>
          </a:effectLst>
        </p:spPr>
      </p:sp>
      <p:pic>
        <p:nvPicPr>
          <p:cNvPr id="3300006" name="Picture 6"/>
          <p:cNvPicPr>
            <a:picLocks noChangeAspect="1"/>
          </p:cNvPicPr>
          <p:nvPr/>
        </p:nvPicPr>
        <p:blipFill>
          <a:blip r:embed="rId4"/>
          <a:srcRect t="13163" b="13163"/>
          <a:stretch>
            <a:fillRect/>
          </a:stretch>
        </p:blipFill>
        <p:spPr>
          <a:xfrm>
            <a:off x="644987" y="3751513"/>
            <a:ext cx="3050440" cy="2247381"/>
          </a:xfrm>
          <a:prstGeom prst="roundRect">
            <a:avLst/>
          </a:prstGeom>
        </p:spPr>
      </p:pic>
      <p:sp>
        <p:nvSpPr>
          <p:cNvPr id="3300007" name="AutoShape 7"/>
          <p:cNvSpPr/>
          <p:nvPr/>
        </p:nvSpPr>
        <p:spPr>
          <a:xfrm>
            <a:off x="644570" y="1728950"/>
            <a:ext cx="3050857" cy="2406213"/>
          </a:xfrm>
          <a:prstGeom prst="roundRect">
            <a:avLst>
              <a:gd name="adj" fmla="val 10215"/>
            </a:avLst>
          </a:prstGeom>
          <a:solidFill>
            <a:srgbClr val="FFFFFF">
              <a:alpha val="100000"/>
            </a:srgbClr>
          </a:solidFill>
          <a:effectLst>
            <a:outerShdw blurRad="457200">
              <a:srgbClr val="000000">
                <a:alpha val="8000"/>
              </a:srgbClr>
            </a:outerShdw>
          </a:effectLst>
        </p:spPr>
      </p:sp>
      <p:sp>
        <p:nvSpPr>
          <p:cNvPr id="3300008" name="TextBox 8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技术工具应用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00009" name="TextBox 9"/>
          <p:cNvSpPr txBox="1"/>
          <p:nvPr/>
        </p:nvSpPr>
        <p:spPr>
          <a:xfrm>
            <a:off x="767253" y="2445849"/>
            <a:ext cx="2819400" cy="160510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采用Pandas进行数据聚合分析，fastparquet优化存储效率，Kaleido实现图表静态导出。</a:t>
            </a:r>
            <a:endParaRPr lang="en-US" sz="1500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00010" name="TextBox 10"/>
          <p:cNvSpPr txBox="1"/>
          <p:nvPr/>
        </p:nvSpPr>
        <p:spPr>
          <a:xfrm>
            <a:off x="651733" y="1856763"/>
            <a:ext cx="3024645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Python生态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00011" name="TextBox 11"/>
          <p:cNvSpPr txBox="1"/>
          <p:nvPr/>
        </p:nvSpPr>
        <p:spPr>
          <a:xfrm>
            <a:off x="4667483" y="2445849"/>
            <a:ext cx="2819400" cy="160510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利用Plotly构建动态图表，Streamlit开发交互界面，支持多维度数据探索。</a:t>
            </a:r>
            <a:endParaRPr lang="en-US" sz="1500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00012" name="TextBox 12"/>
          <p:cNvSpPr txBox="1"/>
          <p:nvPr/>
        </p:nvSpPr>
        <p:spPr>
          <a:xfrm>
            <a:off x="4551963" y="1856763"/>
            <a:ext cx="3024645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可视化技术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00013" name="TextBox 13"/>
          <p:cNvSpPr txBox="1"/>
          <p:nvPr/>
        </p:nvSpPr>
        <p:spPr>
          <a:xfrm>
            <a:off x="8564751" y="2445849"/>
            <a:ext cx="2819400" cy="1605108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应用NetworkX计算模块度（Q=0.5194）和聚类系数，验证社交网络三元闭包特性。</a:t>
            </a:r>
            <a:endParaRPr lang="en-US" sz="1500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00014" name="TextBox 14"/>
          <p:cNvSpPr txBox="1"/>
          <p:nvPr/>
        </p:nvSpPr>
        <p:spPr>
          <a:xfrm>
            <a:off x="8449231" y="1856763"/>
            <a:ext cx="3024645" cy="57943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算法实现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项目过程管理</a:t>
            </a:r>
            <a:endParaRPr lang="zh-CN" altLang="en-US" sz="3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6574" r="16574"/>
          <a:stretch>
            <a:fillRect/>
          </a:stretch>
        </p:blipFill>
        <p:spPr>
          <a:xfrm>
            <a:off x="752047" y="1412707"/>
            <a:ext cx="3005958" cy="449635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8385" b="28385"/>
          <a:stretch>
            <a:fillRect/>
          </a:stretch>
        </p:blipFill>
        <p:spPr>
          <a:xfrm>
            <a:off x="7833544" y="3730249"/>
            <a:ext cx="3737850" cy="2127686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4099978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时间投入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099978" y="2110737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团队累计投入120小时，完成数据清洗（30h）、分析建模（45h）、可视化（35h）和报告撰写（10h）。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成果验证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099978" y="4470242"/>
            <a:ext cx="3431205" cy="1276624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交叉核对Q1-Q4分析结论，确保人口、社交、经济数据的逻辑一致性。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协作机制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96869" y="2110737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采用Git版本控制，每日站会同步进度，通过Jupyter Notebook共享中间成果。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47" r="-47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007" name="TextBox 2"/>
          <p:cNvSpPr txBox="1"/>
          <p:nvPr/>
        </p:nvSpPr>
        <p:spPr>
          <a:xfrm>
            <a:off x="3303905" y="1539546"/>
            <a:ext cx="5584190" cy="22948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>
                <a:solidFill>
                  <a:srgbClr val="833814">
                    <a:alpha val="100000"/>
                  </a:srgbClr>
                </a:solidFill>
                <a:latin typeface="Noto Sans SC Black" panose="020B0200000000000000" charset="-122"/>
                <a:ea typeface="Noto Sans SC Black" panose="020B0200000000000000" charset="-122"/>
                <a:cs typeface="Noto Sans SC Black" panose="020B0200000000000000" charset="-122"/>
              </a:rPr>
              <a:t>感谢观看</a:t>
            </a:r>
            <a:endParaRPr lang="en-US" sz="6600" b="1">
              <a:solidFill>
                <a:srgbClr val="833814">
                  <a:alpha val="100000"/>
                </a:srgbClr>
              </a:solidFill>
              <a:latin typeface="Noto Sans SC Black" panose="020B0200000000000000" charset="-122"/>
              <a:ea typeface="Noto Sans SC Black" panose="020B0200000000000000" charset="-122"/>
              <a:cs typeface="Noto Sans SC Black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2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3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4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5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6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7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8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9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0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1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2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3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4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5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6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7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8.xml><?xml version="1.0" encoding="utf-8"?>
<p:tagLst xmlns:p="http://schemas.openxmlformats.org/presentationml/2006/main">
  <p:tag name="KSO_WM_DIAGRAM_VIRTUALLY_FRAME" val="{&quot;height&quot;:346.3979527559055,&quot;left&quot;:44.34055118110236,&quot;top&quot;:129.9328346456693,&quot;width&quot;:866.4287401574802}"/>
</p:tagLst>
</file>

<file path=ppt/tags/tag19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0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1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2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3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4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5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6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7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8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29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0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1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2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3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4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5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6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7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8.xml><?xml version="1.0" encoding="utf-8"?>
<p:tagLst xmlns:p="http://schemas.openxmlformats.org/presentationml/2006/main">
  <p:tag name="KSO_WM_DIAGRAM_VIRTUALLY_FRAME" val="{&quot;height&quot;:434.74803149606294,&quot;left&quot;:33.39685039370079,&quot;top&quot;:89.29818897637794,&quot;width&quot;:889.7619685039368}"/>
</p:tagLst>
</file>

<file path=ppt/tags/tag39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798.2741732283464}"/>
</p:tagLst>
</file>

<file path=ppt/tags/tag40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798.2741732283464}"/>
</p:tagLst>
</file>

<file path=ppt/tags/tag41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798.2741732283464}"/>
</p:tagLst>
</file>

<file path=ppt/tags/tag42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798.2741732283464}"/>
</p:tagLst>
</file>

<file path=ppt/tags/tag43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798.2741732283464}"/>
</p:tagLst>
</file>

<file path=ppt/tags/tag44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798.2741732283464}"/>
</p:tagLst>
</file>

<file path=ppt/tags/tag45.xml><?xml version="1.0" encoding="utf-8"?>
<p:tagLst xmlns:p="http://schemas.openxmlformats.org/presentationml/2006/main">
  <p:tag name="KSO_WM_DIAGRAM_VIRTUALLY_FRAME" val="{&quot;height&quot;:396.74244094488193,&quot;left&quot;:53.15,&quot;top&quot;:107.2815748031496,&quot;width&quot;:833.65}"/>
</p:tagLst>
</file>

<file path=ppt/tags/tag46.xml><?xml version="1.0" encoding="utf-8"?>
<p:tagLst xmlns:p="http://schemas.openxmlformats.org/presentationml/2006/main">
  <p:tag name="KSO_WM_DIAGRAM_VIRTUALLY_FRAME" val="{&quot;height&quot;:396.74244094488193,&quot;left&quot;:53.15,&quot;top&quot;:107.2815748031496,&quot;width&quot;:833.65}"/>
</p:tagLst>
</file>

<file path=ppt/tags/tag47.xml><?xml version="1.0" encoding="utf-8"?>
<p:tagLst xmlns:p="http://schemas.openxmlformats.org/presentationml/2006/main">
  <p:tag name="KSO_WM_DIAGRAM_VIRTUALLY_FRAME" val="{&quot;height&quot;:396.74244094488193,&quot;left&quot;:53.15,&quot;top&quot;:107.2815748031496,&quot;width&quot;:833.65}"/>
</p:tagLst>
</file>

<file path=ppt/tags/tag48.xml><?xml version="1.0" encoding="utf-8"?>
<p:tagLst xmlns:p="http://schemas.openxmlformats.org/presentationml/2006/main">
  <p:tag name="KSO_WM_DIAGRAM_VIRTUALLY_FRAME" val="{&quot;height&quot;:396.74244094488193,&quot;left&quot;:53.15,&quot;top&quot;:107.2815748031496,&quot;width&quot;:833.65}"/>
</p:tagLst>
</file>

<file path=ppt/tags/tag49.xml><?xml version="1.0" encoding="utf-8"?>
<p:tagLst xmlns:p="http://schemas.openxmlformats.org/presentationml/2006/main">
  <p:tag name="KSO_WM_DIAGRAM_VIRTUALLY_FRAME" val="{&quot;height&quot;:396.74244094488193,&quot;left&quot;:53.15,&quot;top&quot;:107.2815748031496,&quot;width&quot;:833.65}"/>
</p:tagLst>
</file>

<file path=ppt/tags/tag50.xml><?xml version="1.0" encoding="utf-8"?>
<p:tagLst xmlns:p="http://schemas.openxmlformats.org/presentationml/2006/main">
  <p:tag name="KSO_WM_DIAGRAM_VIRTUALLY_FRAME" val="{&quot;height&quot;:396.74244094488193,&quot;left&quot;:53.15,&quot;top&quot;:107.2815748031496,&quot;width&quot;:833.65}"/>
</p:tagLst>
</file>

<file path=ppt/tags/tag51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52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53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54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00.2276377952755}"/>
</p:tagLst>
</file>

<file path=ppt/tags/tag55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56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57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58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00.2276377952755}"/>
</p:tagLst>
</file>

<file path=ppt/tags/tag59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60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61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11.2357480314961}"/>
</p:tagLst>
</file>

<file path=ppt/tags/tag62.xml><?xml version="1.0" encoding="utf-8"?>
<p:tagLst xmlns:p="http://schemas.openxmlformats.org/presentationml/2006/main">
  <p:tag name="KSO_WM_DIAGRAM_VIRTUALLY_FRAME" val="{&quot;height&quot;:350.13259842519693,&quot;left&quot;:311.2268503937008,&quot;top&quot;:111.23677165354331,&quot;width&quot;:600.2276377952755}"/>
</p:tagLst>
</file>

<file path=ppt/tags/tag63.xml><?xml version="1.0" encoding="utf-8"?>
<p:tagLst xmlns:p="http://schemas.openxmlformats.org/presentationml/2006/main">
  <p:tag name="KSO_WM_DIAGRAM_VIRTUALLY_FRAME" val="{&quot;height&quot;:387.88401574803146,&quot;left&quot;:46.690866141732286,&quot;top&quot;:101.80448818897638,&quot;width&quot;:866.3319685039371}"/>
</p:tagLst>
</file>

<file path=ppt/tags/tag64.xml><?xml version="1.0" encoding="utf-8"?>
<p:tagLst xmlns:p="http://schemas.openxmlformats.org/presentationml/2006/main">
  <p:tag name="KSO_WM_DIAGRAM_VIRTUALLY_FRAME" val="{&quot;height&quot;:387.88401574803146,&quot;left&quot;:46.690866141732286,&quot;top&quot;:101.80448818897638,&quot;width&quot;:866.3319685039371}"/>
</p:tagLst>
</file>

<file path=ppt/tags/tag65.xml><?xml version="1.0" encoding="utf-8"?>
<p:tagLst xmlns:p="http://schemas.openxmlformats.org/presentationml/2006/main">
  <p:tag name="KSO_WM_DIAGRAM_VIRTUALLY_FRAME" val="{&quot;height&quot;:387.88401574803146,&quot;left&quot;:46.690866141732286,&quot;top&quot;:101.80448818897638,&quot;width&quot;:866.3319685039371}"/>
</p:tagLst>
</file>

<file path=ppt/tags/tag66.xml><?xml version="1.0" encoding="utf-8"?>
<p:tagLst xmlns:p="http://schemas.openxmlformats.org/presentationml/2006/main">
  <p:tag name="KSO_WM_DIAGRAM_VIRTUALLY_FRAME" val="{&quot;height&quot;:387.88401574803146,&quot;left&quot;:46.690866141732286,&quot;top&quot;:101.80448818897638,&quot;width&quot;:866.3319685039371}"/>
</p:tagLst>
</file>

<file path=ppt/tags/tag67.xml><?xml version="1.0" encoding="utf-8"?>
<p:tagLst xmlns:p="http://schemas.openxmlformats.org/presentationml/2006/main">
  <p:tag name="KSO_WM_DIAGRAM_VIRTUALLY_FRAME" val="{&quot;height&quot;:387.88401574803146,&quot;left&quot;:46.690866141732286,&quot;top&quot;:101.80448818897638,&quot;width&quot;:866.3319685039371}"/>
</p:tagLst>
</file>

<file path=ppt/tags/tag68.xml><?xml version="1.0" encoding="utf-8"?>
<p:tagLst xmlns:p="http://schemas.openxmlformats.org/presentationml/2006/main">
  <p:tag name="KSO_WM_DIAGRAM_VIRTUALLY_FRAME" val="{&quot;height&quot;:387.88401574803146,&quot;left&quot;:46.690866141732286,&quot;top&quot;:101.80448818897638,&quot;width&quot;:866.3319685039371}"/>
</p:tagLst>
</file>

<file path=ppt/tags/tag69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0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1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2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3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4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5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6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7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78.xml><?xml version="1.0" encoding="utf-8"?>
<p:tagLst xmlns:p="http://schemas.openxmlformats.org/presentationml/2006/main">
  <p:tag name="KSO_WM_DIAGRAM_VIRTUALLY_FRAME" val="{&quot;height&quot;:421.22401574803155,&quot;left&quot;:53.14811023622046,&quot;top&quot;:82.8,&quot;width&quot;:833.6518897637795}"/>
</p:tagLst>
</file>

<file path=ppt/tags/tag79.xml><?xml version="1.0" encoding="utf-8"?>
<p:tagLst xmlns:p="http://schemas.openxmlformats.org/presentationml/2006/main">
  <p:tag name="KSO_WM_DIAGRAM_VIRTUALLY_FRAME" val="{&quot;height&quot;:421.22401574803155,&quot;left&quot;:53.14811023622046,&quot;top&quot;:82.8,&quot;width&quot;:833.6518897637795}"/>
</p:tagLst>
</file>

<file path=ppt/tags/tag80.xml><?xml version="1.0" encoding="utf-8"?>
<p:tagLst xmlns:p="http://schemas.openxmlformats.org/presentationml/2006/main">
  <p:tag name="KSO_WM_DIAGRAM_VIRTUALLY_FRAME" val="{&quot;height&quot;:421.22401574803155,&quot;left&quot;:53.14811023622046,&quot;top&quot;:82.8,&quot;width&quot;:833.6518897637795}"/>
</p:tagLst>
</file>

<file path=ppt/tags/tag81.xml><?xml version="1.0" encoding="utf-8"?>
<p:tagLst xmlns:p="http://schemas.openxmlformats.org/presentationml/2006/main">
  <p:tag name="KSO_WM_DIAGRAM_VIRTUALLY_FRAME" val="{&quot;height&quot;:396.74244094488193,&quot;left&quot;:53.14811023622046,&quot;top&quot;:107.2815748031496,&quot;width&quot;:833.6518897637795}"/>
</p:tagLst>
</file>

<file path=ppt/tags/tag82.xml><?xml version="1.0" encoding="utf-8"?>
<p:tagLst xmlns:p="http://schemas.openxmlformats.org/presentationml/2006/main">
  <p:tag name="KSO_WM_DIAGRAM_VIRTUALLY_FRAME" val="{&quot;height&quot;:421.22401574803155,&quot;left&quot;:53.14811023622046,&quot;top&quot;:82.8,&quot;width&quot;:833.6518897637795}"/>
</p:tagLst>
</file>

<file path=ppt/tags/tag83.xml><?xml version="1.0" encoding="utf-8"?>
<p:tagLst xmlns:p="http://schemas.openxmlformats.org/presentationml/2006/main">
  <p:tag name="KSO_WM_DIAGRAM_VIRTUALLY_FRAME" val="{&quot;height&quot;:412.9640157480315,&quot;left&quot;:75.99590551181102,&quot;top&quot;:99.40031496062991,&quot;width&quot;:805.7741732283464}"/>
</p:tagLst>
</file>

<file path=ppt/tags/tag84.xml><?xml version="1.0" encoding="utf-8"?>
<p:tagLst xmlns:p="http://schemas.openxmlformats.org/presentationml/2006/main">
  <p:tag name="KSO_WM_DIAGRAM_VIRTUALLY_FRAME" val="{&quot;height&quot;:409.3539370078741,&quot;left&quot;:51.75181102362204,&quot;top&quot;:99.04653543307087,&quot;width&quot;:396.38149606299214}"/>
</p:tagLst>
</file>

<file path=ppt/tags/tag85.xml><?xml version="1.0" encoding="utf-8"?>
<p:tagLst xmlns:p="http://schemas.openxmlformats.org/presentationml/2006/main">
  <p:tag name="KSO_WM_DIAGRAM_VIRTUALLY_FRAME" val="{&quot;height&quot;:409.3539370078741,&quot;left&quot;:51.75181102362204,&quot;top&quot;:99.04653543307087,&quot;width&quot;:396.38149606299214}"/>
</p:tagLst>
</file>

<file path=ppt/tags/tag86.xml><?xml version="1.0" encoding="utf-8"?>
<p:tagLst xmlns:p="http://schemas.openxmlformats.org/presentationml/2006/main">
  <p:tag name="KSO_WM_DIAGRAM_VIRTUALLY_FRAME" val="{&quot;height&quot;:409.3539370078741,&quot;left&quot;:51.75181102362204,&quot;top&quot;:99.04653543307087,&quot;width&quot;:396.38149606299214}"/>
</p:tagLst>
</file>

<file path=ppt/tags/tag87.xml><?xml version="1.0" encoding="utf-8"?>
<p:tagLst xmlns:p="http://schemas.openxmlformats.org/presentationml/2006/main">
  <p:tag name="KSO_WM_DIAGRAM_VIRTUALLY_FRAME" val="{&quot;height&quot;:409.3539370078741,&quot;left&quot;:51.75181102362204,&quot;top&quot;:99.04653543307087,&quot;width&quot;:396.38149606299214}"/>
</p:tagLst>
</file>

<file path=ppt/tags/tag88.xml><?xml version="1.0" encoding="utf-8"?>
<p:tagLst xmlns:p="http://schemas.openxmlformats.org/presentationml/2006/main">
  <p:tag name="KSO_WM_DIAGRAM_VIRTUALLY_FRAME" val="{&quot;height&quot;:409.3539370078741,&quot;left&quot;:51.75181102362204,&quot;top&quot;:99.04653543307087,&quot;width&quot;:396.38149606299214}"/>
</p:tagLst>
</file>

<file path=ppt/tags/tag89.xml><?xml version="1.0" encoding="utf-8"?>
<p:tagLst xmlns:p="http://schemas.openxmlformats.org/presentationml/2006/main">
  <p:tag name="KSO_WM_DIAGRAM_VIRTUALLY_FRAME" val="{&quot;height&quot;:409.3539370078741,&quot;left&quot;:51.75181102362204,&quot;top&quot;:99.04653543307087,&quot;width&quot;:396.38149606299214}"/>
</p:tagLst>
</file>

<file path=ppt/tags/tag90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1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2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3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4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5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6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7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8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99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0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1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2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3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4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5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6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7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8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09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10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11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12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13.xml><?xml version="1.0" encoding="utf-8"?>
<p:tagLst xmlns:p="http://schemas.openxmlformats.org/presentationml/2006/main">
  <p:tag name="KSO_WM_DIAGRAM_VIRTUALLY_FRAME" val="{&quot;height&quot;:369.3623622047244,&quot;left&quot;:28.77,&quot;top&quot;:132.3,&quot;width&quot;:910.8118110236221}"/>
</p:tagLst>
</file>

<file path=ppt/tags/tag114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15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16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17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18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19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20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21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22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23.xml><?xml version="1.0" encoding="utf-8"?>
<p:tagLst xmlns:p="http://schemas.openxmlformats.org/presentationml/2006/main">
  <p:tag name="KSO_WM_DIAGRAM_VIRTUALLY_FRAME" val="{&quot;height&quot;:428.05,&quot;left&quot;:-51.981181102362214,&quot;top&quot;:74.85,&quot;width&quot;:996.9311811023623}"/>
</p:tagLst>
</file>

<file path=ppt/tags/tag124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25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26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27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28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29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30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31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ags/tag132.xml><?xml version="1.0" encoding="utf-8"?>
<p:tagLst xmlns:p="http://schemas.openxmlformats.org/presentationml/2006/main">
  <p:tag name="KSO_WM_DIAGRAM_VIRTUALLY_FRAME" val="{&quot;height&quot;:232.02803149606297,&quot;left&quot;:39.859606299212594,&quot;top&quot;:112.58338582677166,&quot;width&quot;:872.3593700787402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313335"/>
      </a:dk1>
      <a:lt1>
        <a:srgbClr val="FBF6E3"/>
      </a:lt1>
      <a:dk2>
        <a:srgbClr val="1A1A1A"/>
      </a:dk2>
      <a:lt2>
        <a:srgbClr val="FFFFFF"/>
      </a:lt2>
      <a:accent1>
        <a:srgbClr val="8F4521"/>
      </a:accent1>
      <a:accent2>
        <a:srgbClr val="AF6B49"/>
      </a:accent2>
      <a:accent3>
        <a:srgbClr val="FAAE58"/>
      </a:accent3>
      <a:accent4>
        <a:srgbClr val="8F4521"/>
      </a:accent4>
      <a:accent5>
        <a:srgbClr val="AA4E21"/>
      </a:accent5>
      <a:accent6>
        <a:srgbClr val="EC963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313335"/>
      </a:dk1>
      <a:lt1>
        <a:srgbClr val="FBF6E3"/>
      </a:lt1>
      <a:dk2>
        <a:srgbClr val="1A1A1A"/>
      </a:dk2>
      <a:lt2>
        <a:srgbClr val="FFFFFF"/>
      </a:lt2>
      <a:accent1>
        <a:srgbClr val="8F4521"/>
      </a:accent1>
      <a:accent2>
        <a:srgbClr val="AF6B49"/>
      </a:accent2>
      <a:accent3>
        <a:srgbClr val="FAAE58"/>
      </a:accent3>
      <a:accent4>
        <a:srgbClr val="8F4521"/>
      </a:accent4>
      <a:accent5>
        <a:srgbClr val="AA4E21"/>
      </a:accent5>
      <a:accent6>
        <a:srgbClr val="EC963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313335"/>
    </a:dk1>
    <a:lt1>
      <a:srgbClr val="FBF6E3"/>
    </a:lt1>
    <a:dk2>
      <a:srgbClr val="1A1A1A"/>
    </a:dk2>
    <a:lt2>
      <a:srgbClr val="FFFFFF"/>
    </a:lt2>
    <a:accent1>
      <a:srgbClr val="8F4521"/>
    </a:accent1>
    <a:accent2>
      <a:srgbClr val="AF6B49"/>
    </a:accent2>
    <a:accent3>
      <a:srgbClr val="FAAE58"/>
    </a:accent3>
    <a:accent4>
      <a:srgbClr val="8F4521"/>
    </a:accent4>
    <a:accent5>
      <a:srgbClr val="AA4E21"/>
    </a:accent5>
    <a:accent6>
      <a:srgbClr val="EC9635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5464</Words>
  <Application>WPS 演示</Application>
  <PresentationFormat>宽屏</PresentationFormat>
  <Paragraphs>480</Paragraphs>
  <Slides>43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62" baseType="lpstr">
      <vt:lpstr>Arial</vt:lpstr>
      <vt:lpstr>宋体</vt:lpstr>
      <vt:lpstr>Wingdings</vt:lpstr>
      <vt:lpstr>Noto Sans SC Black</vt:lpstr>
      <vt:lpstr>Noto Sans SC</vt:lpstr>
      <vt:lpstr>思源黑体 CN Bold</vt:lpstr>
      <vt:lpstr>黑体</vt:lpstr>
      <vt:lpstr>Arial</vt:lpstr>
      <vt:lpstr>Noto Sans SC Medium</vt:lpstr>
      <vt:lpstr>Noto Sans SC SemiBold</vt:lpstr>
      <vt:lpstr>KSOFD723FC5D</vt:lpstr>
      <vt:lpstr>Segoe Print</vt:lpstr>
      <vt:lpstr>微软雅黑</vt:lpstr>
      <vt:lpstr>Arial Unicode MS</vt:lpstr>
      <vt:lpstr>等线 Light</vt:lpstr>
      <vt:lpstr>等线</vt:lpstr>
      <vt:lpstr>OPPOSans M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WPS_1705712227</cp:lastModifiedBy>
  <cp:revision>22</cp:revision>
  <dcterms:created xsi:type="dcterms:W3CDTF">2025-10-20T11:38:00Z</dcterms:created>
  <dcterms:modified xsi:type="dcterms:W3CDTF">2026-06-13T15:22:00Z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3314e7689e8a7b65bfa7ade51a65e94a_1781235661_164a4cce70ce1637342c40a1ed56fc18","ReservedCode1":"3486b83cf349ed3f5f84fa0b98fcef7fc096d8301d3a74bc8239cfad67f31d1c","ContentPropagator":"001191110000802100433B10001","PropagateID":"3314e7689e8a7b65bfa7ade51a65e94a_1781235661_164a4cce70ce1637342c40a1ed56fc18","ReservedCode2":"3486b83cf349ed3f5f84fa0b98fcef7fc096d8301d3a74bc8239cfad67f31d1c"}</vt:lpwstr>
  </property>
  <property fmtid="{D5CDD505-2E9C-101B-9397-08002B2CF9AE}" pid="3" name="KSOProductBuildVer">
    <vt:lpwstr>2052-12.1.0.26381</vt:lpwstr>
  </property>
  <property fmtid="{D5CDD505-2E9C-101B-9397-08002B2CF9AE}" pid="4" name="ICV">
    <vt:lpwstr>4C5F43E045364DAA86F844B0D42F5FE4_13</vt:lpwstr>
  </property>
</Properties>
</file>